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71" r:id="rId5"/>
    <p:sldId id="259" r:id="rId6"/>
    <p:sldId id="275" r:id="rId7"/>
    <p:sldId id="260" r:id="rId8"/>
    <p:sldId id="272" r:id="rId9"/>
    <p:sldId id="273" r:id="rId10"/>
    <p:sldId id="274" r:id="rId11"/>
    <p:sldId id="261" r:id="rId12"/>
    <p:sldId id="262" r:id="rId13"/>
    <p:sldId id="276" r:id="rId14"/>
    <p:sldId id="277" r:id="rId15"/>
    <p:sldId id="278" r:id="rId16"/>
    <p:sldId id="282" r:id="rId17"/>
    <p:sldId id="283" r:id="rId18"/>
    <p:sldId id="284" r:id="rId19"/>
    <p:sldId id="279" r:id="rId20"/>
    <p:sldId id="286" r:id="rId21"/>
    <p:sldId id="265" r:id="rId22"/>
    <p:sldId id="280" r:id="rId23"/>
    <p:sldId id="281" r:id="rId24"/>
    <p:sldId id="266" r:id="rId25"/>
    <p:sldId id="285" r:id="rId26"/>
    <p:sldId id="270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186"/>
    <a:srgbClr val="E46C0A"/>
    <a:srgbClr val="0070C0"/>
    <a:srgbClr val="E8D1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359" autoAdjust="0"/>
  </p:normalViewPr>
  <p:slideViewPr>
    <p:cSldViewPr snapToGrid="0" snapToObjects="1">
      <p:cViewPr varScale="1">
        <p:scale>
          <a:sx n="102" d="100"/>
          <a:sy n="102" d="100"/>
        </p:scale>
        <p:origin x="18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B4855-9889-4167-9E94-895E9CC710DE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496E89-1DE6-48A4-BAB3-CBD6CC9847A2}">
      <dgm:prSet phldrT="[Text]"/>
      <dgm:spPr>
        <a:solidFill>
          <a:schemeClr val="bg2">
            <a:lumMod val="40000"/>
            <a:lumOff val="60000"/>
            <a:alpha val="50000"/>
          </a:schemeClr>
        </a:solidFill>
      </dgm:spPr>
      <dgm:t>
        <a:bodyPr/>
        <a:lstStyle/>
        <a:p>
          <a:r>
            <a:rPr lang="en-US" dirty="0"/>
            <a:t>(Meta)genomics</a:t>
          </a:r>
        </a:p>
      </dgm:t>
    </dgm:pt>
    <dgm:pt modelId="{FFDB7B88-DC57-440D-971A-1711C7FB4B03}" type="parTrans" cxnId="{8568D210-AE1F-43A1-8E3B-B94366B3D629}">
      <dgm:prSet/>
      <dgm:spPr/>
      <dgm:t>
        <a:bodyPr/>
        <a:lstStyle/>
        <a:p>
          <a:endParaRPr lang="en-US"/>
        </a:p>
      </dgm:t>
    </dgm:pt>
    <dgm:pt modelId="{06D39330-C456-46C6-88FF-BED91F063280}" type="sibTrans" cxnId="{8568D210-AE1F-43A1-8E3B-B94366B3D629}">
      <dgm:prSet/>
      <dgm:spPr/>
      <dgm:t>
        <a:bodyPr/>
        <a:lstStyle/>
        <a:p>
          <a:endParaRPr lang="en-US"/>
        </a:p>
      </dgm:t>
    </dgm:pt>
    <dgm:pt modelId="{1B1302EC-166B-4A2F-A82A-742578994810}">
      <dgm:prSet phldrT="[Text]"/>
      <dgm:spPr>
        <a:solidFill>
          <a:srgbClr val="92D050">
            <a:alpha val="50000"/>
          </a:srgbClr>
        </a:solidFill>
      </dgm:spPr>
      <dgm:t>
        <a:bodyPr/>
        <a:lstStyle/>
        <a:p>
          <a:r>
            <a:rPr lang="en-US" b="1" dirty="0"/>
            <a:t>Identification of novel metabolic pathways</a:t>
          </a:r>
        </a:p>
      </dgm:t>
    </dgm:pt>
    <dgm:pt modelId="{EEB5162D-F0AC-4022-BBE4-BBB5D427F154}" type="parTrans" cxnId="{ACCA7BB2-4A97-4A8C-82AD-CA06D4C16849}">
      <dgm:prSet/>
      <dgm:spPr/>
      <dgm:t>
        <a:bodyPr/>
        <a:lstStyle/>
        <a:p>
          <a:endParaRPr lang="en-US"/>
        </a:p>
      </dgm:t>
    </dgm:pt>
    <dgm:pt modelId="{B2982246-F0A7-4BEE-AA38-25E814730136}" type="sibTrans" cxnId="{ACCA7BB2-4A97-4A8C-82AD-CA06D4C16849}">
      <dgm:prSet/>
      <dgm:spPr/>
      <dgm:t>
        <a:bodyPr/>
        <a:lstStyle/>
        <a:p>
          <a:endParaRPr lang="en-US"/>
        </a:p>
      </dgm:t>
    </dgm:pt>
    <dgm:pt modelId="{4F0B9D67-1BBC-4A25-BC3D-926DD8680188}">
      <dgm:prSet phldrT="[Text]"/>
      <dgm:spPr>
        <a:solidFill>
          <a:srgbClr val="FFCC66">
            <a:alpha val="49804"/>
          </a:srgbClr>
        </a:solidFill>
      </dgm:spPr>
      <dgm:t>
        <a:bodyPr/>
        <a:lstStyle/>
        <a:p>
          <a:r>
            <a:rPr lang="en-US" b="1" dirty="0"/>
            <a:t>Horizontal gene transfer</a:t>
          </a:r>
        </a:p>
      </dgm:t>
    </dgm:pt>
    <dgm:pt modelId="{63365B18-3416-4110-88C3-17166750CCF6}" type="parTrans" cxnId="{22172B02-5404-4CDD-9601-E951D9C9C8B3}">
      <dgm:prSet/>
      <dgm:spPr/>
      <dgm:t>
        <a:bodyPr/>
        <a:lstStyle/>
        <a:p>
          <a:endParaRPr lang="en-US"/>
        </a:p>
      </dgm:t>
    </dgm:pt>
    <dgm:pt modelId="{13D7AF8B-1156-425C-A215-0F1DF6E1B30F}" type="sibTrans" cxnId="{22172B02-5404-4CDD-9601-E951D9C9C8B3}">
      <dgm:prSet/>
      <dgm:spPr/>
      <dgm:t>
        <a:bodyPr/>
        <a:lstStyle/>
        <a:p>
          <a:endParaRPr lang="en-US"/>
        </a:p>
      </dgm:t>
    </dgm:pt>
    <dgm:pt modelId="{FA252E53-1AE4-4560-BCAD-8860E76C9F32}">
      <dgm:prSet phldrT="[Text]"/>
      <dgm:spPr>
        <a:solidFill>
          <a:srgbClr val="FF66FF">
            <a:alpha val="49804"/>
          </a:srgbClr>
        </a:solidFill>
      </dgm:spPr>
      <dgm:t>
        <a:bodyPr/>
        <a:lstStyle/>
        <a:p>
          <a:r>
            <a:rPr lang="en-US" b="1" dirty="0"/>
            <a:t>Community characterization / Diversity analysis</a:t>
          </a:r>
        </a:p>
      </dgm:t>
    </dgm:pt>
    <dgm:pt modelId="{1E46A286-DBB2-4150-82D2-2E81FAEE9969}" type="parTrans" cxnId="{9FC59808-19C4-43D4-AFC0-D77832C7712B}">
      <dgm:prSet/>
      <dgm:spPr/>
      <dgm:t>
        <a:bodyPr/>
        <a:lstStyle/>
        <a:p>
          <a:endParaRPr lang="en-US"/>
        </a:p>
      </dgm:t>
    </dgm:pt>
    <dgm:pt modelId="{C519C179-576C-4497-A5E1-EFE2FD470FE9}" type="sibTrans" cxnId="{9FC59808-19C4-43D4-AFC0-D77832C7712B}">
      <dgm:prSet/>
      <dgm:spPr/>
      <dgm:t>
        <a:bodyPr/>
        <a:lstStyle/>
        <a:p>
          <a:endParaRPr lang="en-US"/>
        </a:p>
      </dgm:t>
    </dgm:pt>
    <dgm:pt modelId="{2B67D865-7B91-403B-AA9F-DDA55F8B96FC}">
      <dgm:prSet phldrT="[Text]"/>
      <dgm:spPr>
        <a:solidFill>
          <a:schemeClr val="accent2">
            <a:lumMod val="40000"/>
            <a:lumOff val="60000"/>
            <a:alpha val="50000"/>
          </a:schemeClr>
        </a:solidFill>
      </dgm:spPr>
      <dgm:t>
        <a:bodyPr/>
        <a:lstStyle/>
        <a:p>
          <a:r>
            <a:rPr lang="en-US" b="1" dirty="0"/>
            <a:t>Identification of novel species</a:t>
          </a:r>
        </a:p>
      </dgm:t>
    </dgm:pt>
    <dgm:pt modelId="{EFC8EA09-7923-4505-BFB4-425160A7724D}" type="parTrans" cxnId="{42557BA1-2D2A-458B-A10F-0C7CD6FBE9BF}">
      <dgm:prSet/>
      <dgm:spPr/>
      <dgm:t>
        <a:bodyPr/>
        <a:lstStyle/>
        <a:p>
          <a:endParaRPr lang="en-US"/>
        </a:p>
      </dgm:t>
    </dgm:pt>
    <dgm:pt modelId="{F69449D8-5183-406B-9DC5-0E05B29FD5F0}" type="sibTrans" cxnId="{42557BA1-2D2A-458B-A10F-0C7CD6FBE9BF}">
      <dgm:prSet/>
      <dgm:spPr/>
      <dgm:t>
        <a:bodyPr/>
        <a:lstStyle/>
        <a:p>
          <a:endParaRPr lang="en-US"/>
        </a:p>
      </dgm:t>
    </dgm:pt>
    <dgm:pt modelId="{33E79418-16FA-476E-932B-748E8ED2A317}" type="pres">
      <dgm:prSet presAssocID="{901B4855-9889-4167-9E94-895E9CC710DE}" presName="composite" presStyleCnt="0">
        <dgm:presLayoutVars>
          <dgm:chMax val="1"/>
          <dgm:dir/>
          <dgm:resizeHandles val="exact"/>
        </dgm:presLayoutVars>
      </dgm:prSet>
      <dgm:spPr/>
    </dgm:pt>
    <dgm:pt modelId="{6AAA1420-CFEF-453E-8149-563D4DAE9F8D}" type="pres">
      <dgm:prSet presAssocID="{901B4855-9889-4167-9E94-895E9CC710DE}" presName="radial" presStyleCnt="0">
        <dgm:presLayoutVars>
          <dgm:animLvl val="ctr"/>
        </dgm:presLayoutVars>
      </dgm:prSet>
      <dgm:spPr/>
    </dgm:pt>
    <dgm:pt modelId="{96A3C68F-70BE-4C1B-BC2B-F513B4535048}" type="pres">
      <dgm:prSet presAssocID="{AF496E89-1DE6-48A4-BAB3-CBD6CC9847A2}" presName="centerShape" presStyleLbl="vennNode1" presStyleIdx="0" presStyleCnt="5" custScaleX="123275"/>
      <dgm:spPr/>
    </dgm:pt>
    <dgm:pt modelId="{0929EE7E-F533-4513-8534-1440B85AB3EC}" type="pres">
      <dgm:prSet presAssocID="{1B1302EC-166B-4A2F-A82A-742578994810}" presName="node" presStyleLbl="vennNode1" presStyleIdx="1" presStyleCnt="5" custScaleX="205500">
        <dgm:presLayoutVars>
          <dgm:bulletEnabled val="1"/>
        </dgm:presLayoutVars>
      </dgm:prSet>
      <dgm:spPr/>
    </dgm:pt>
    <dgm:pt modelId="{D105529A-B6FA-4140-9251-112D461FA81E}" type="pres">
      <dgm:prSet presAssocID="{4F0B9D67-1BBC-4A25-BC3D-926DD8680188}" presName="node" presStyleLbl="vennNode1" presStyleIdx="2" presStyleCnt="5" custScaleX="142434" custRadScaleRad="139766">
        <dgm:presLayoutVars>
          <dgm:bulletEnabled val="1"/>
        </dgm:presLayoutVars>
      </dgm:prSet>
      <dgm:spPr/>
    </dgm:pt>
    <dgm:pt modelId="{D2010696-B7A8-4A66-8561-C10E89E201F3}" type="pres">
      <dgm:prSet presAssocID="{FA252E53-1AE4-4560-BCAD-8860E76C9F32}" presName="node" presStyleLbl="vennNode1" presStyleIdx="3" presStyleCnt="5" custScaleX="189355">
        <dgm:presLayoutVars>
          <dgm:bulletEnabled val="1"/>
        </dgm:presLayoutVars>
      </dgm:prSet>
      <dgm:spPr/>
    </dgm:pt>
    <dgm:pt modelId="{44124051-EBDD-431F-971D-EA5A47479AB5}" type="pres">
      <dgm:prSet presAssocID="{2B67D865-7B91-403B-AA9F-DDA55F8B96FC}" presName="node" presStyleLbl="vennNode1" presStyleIdx="4" presStyleCnt="5" custScaleX="135051" custRadScaleRad="135770">
        <dgm:presLayoutVars>
          <dgm:bulletEnabled val="1"/>
        </dgm:presLayoutVars>
      </dgm:prSet>
      <dgm:spPr/>
    </dgm:pt>
  </dgm:ptLst>
  <dgm:cxnLst>
    <dgm:cxn modelId="{22172B02-5404-4CDD-9601-E951D9C9C8B3}" srcId="{AF496E89-1DE6-48A4-BAB3-CBD6CC9847A2}" destId="{4F0B9D67-1BBC-4A25-BC3D-926DD8680188}" srcOrd="1" destOrd="0" parTransId="{63365B18-3416-4110-88C3-17166750CCF6}" sibTransId="{13D7AF8B-1156-425C-A215-0F1DF6E1B30F}"/>
    <dgm:cxn modelId="{9FC59808-19C4-43D4-AFC0-D77832C7712B}" srcId="{AF496E89-1DE6-48A4-BAB3-CBD6CC9847A2}" destId="{FA252E53-1AE4-4560-BCAD-8860E76C9F32}" srcOrd="2" destOrd="0" parTransId="{1E46A286-DBB2-4150-82D2-2E81FAEE9969}" sibTransId="{C519C179-576C-4497-A5E1-EFE2FD470FE9}"/>
    <dgm:cxn modelId="{70603F10-FBDD-4FEE-98EF-03A5A00E9CC3}" type="presOf" srcId="{1B1302EC-166B-4A2F-A82A-742578994810}" destId="{0929EE7E-F533-4513-8534-1440B85AB3EC}" srcOrd="0" destOrd="0" presId="urn:microsoft.com/office/officeart/2005/8/layout/radial3"/>
    <dgm:cxn modelId="{8568D210-AE1F-43A1-8E3B-B94366B3D629}" srcId="{901B4855-9889-4167-9E94-895E9CC710DE}" destId="{AF496E89-1DE6-48A4-BAB3-CBD6CC9847A2}" srcOrd="0" destOrd="0" parTransId="{FFDB7B88-DC57-440D-971A-1711C7FB4B03}" sibTransId="{06D39330-C456-46C6-88FF-BED91F063280}"/>
    <dgm:cxn modelId="{C83B7F19-02F2-4775-AFD6-1A697B58E6C7}" type="presOf" srcId="{2B67D865-7B91-403B-AA9F-DDA55F8B96FC}" destId="{44124051-EBDD-431F-971D-EA5A47479AB5}" srcOrd="0" destOrd="0" presId="urn:microsoft.com/office/officeart/2005/8/layout/radial3"/>
    <dgm:cxn modelId="{A3164B57-9D9E-4789-B34C-02A2B780C043}" type="presOf" srcId="{FA252E53-1AE4-4560-BCAD-8860E76C9F32}" destId="{D2010696-B7A8-4A66-8561-C10E89E201F3}" srcOrd="0" destOrd="0" presId="urn:microsoft.com/office/officeart/2005/8/layout/radial3"/>
    <dgm:cxn modelId="{162F4DA0-E82F-4A5B-BEA8-19B909A065FB}" type="presOf" srcId="{AF496E89-1DE6-48A4-BAB3-CBD6CC9847A2}" destId="{96A3C68F-70BE-4C1B-BC2B-F513B4535048}" srcOrd="0" destOrd="0" presId="urn:microsoft.com/office/officeart/2005/8/layout/radial3"/>
    <dgm:cxn modelId="{42557BA1-2D2A-458B-A10F-0C7CD6FBE9BF}" srcId="{AF496E89-1DE6-48A4-BAB3-CBD6CC9847A2}" destId="{2B67D865-7B91-403B-AA9F-DDA55F8B96FC}" srcOrd="3" destOrd="0" parTransId="{EFC8EA09-7923-4505-BFB4-425160A7724D}" sibTransId="{F69449D8-5183-406B-9DC5-0E05B29FD5F0}"/>
    <dgm:cxn modelId="{ACCA7BB2-4A97-4A8C-82AD-CA06D4C16849}" srcId="{AF496E89-1DE6-48A4-BAB3-CBD6CC9847A2}" destId="{1B1302EC-166B-4A2F-A82A-742578994810}" srcOrd="0" destOrd="0" parTransId="{EEB5162D-F0AC-4022-BBE4-BBB5D427F154}" sibTransId="{B2982246-F0A7-4BEE-AA38-25E814730136}"/>
    <dgm:cxn modelId="{9B8250C3-D059-4A9B-A1A0-39C0EE4D9EAB}" type="presOf" srcId="{901B4855-9889-4167-9E94-895E9CC710DE}" destId="{33E79418-16FA-476E-932B-748E8ED2A317}" srcOrd="0" destOrd="0" presId="urn:microsoft.com/office/officeart/2005/8/layout/radial3"/>
    <dgm:cxn modelId="{E5FC85F7-13F5-4402-B69E-88E4261EBE04}" type="presOf" srcId="{4F0B9D67-1BBC-4A25-BC3D-926DD8680188}" destId="{D105529A-B6FA-4140-9251-112D461FA81E}" srcOrd="0" destOrd="0" presId="urn:microsoft.com/office/officeart/2005/8/layout/radial3"/>
    <dgm:cxn modelId="{E0D9125D-4A16-46CA-BCA3-B8B8C28CA99A}" type="presParOf" srcId="{33E79418-16FA-476E-932B-748E8ED2A317}" destId="{6AAA1420-CFEF-453E-8149-563D4DAE9F8D}" srcOrd="0" destOrd="0" presId="urn:microsoft.com/office/officeart/2005/8/layout/radial3"/>
    <dgm:cxn modelId="{7FE204AA-97B2-4F28-8D0B-FABCEDCD983E}" type="presParOf" srcId="{6AAA1420-CFEF-453E-8149-563D4DAE9F8D}" destId="{96A3C68F-70BE-4C1B-BC2B-F513B4535048}" srcOrd="0" destOrd="0" presId="urn:microsoft.com/office/officeart/2005/8/layout/radial3"/>
    <dgm:cxn modelId="{787A7392-EE0C-47D4-9073-6D1754BE1B3E}" type="presParOf" srcId="{6AAA1420-CFEF-453E-8149-563D4DAE9F8D}" destId="{0929EE7E-F533-4513-8534-1440B85AB3EC}" srcOrd="1" destOrd="0" presId="urn:microsoft.com/office/officeart/2005/8/layout/radial3"/>
    <dgm:cxn modelId="{E47FF52B-E65E-46E0-8764-FCD15CB13F58}" type="presParOf" srcId="{6AAA1420-CFEF-453E-8149-563D4DAE9F8D}" destId="{D105529A-B6FA-4140-9251-112D461FA81E}" srcOrd="2" destOrd="0" presId="urn:microsoft.com/office/officeart/2005/8/layout/radial3"/>
    <dgm:cxn modelId="{6955A771-FB5F-4B2F-B6A6-33D3C34FD1B3}" type="presParOf" srcId="{6AAA1420-CFEF-453E-8149-563D4DAE9F8D}" destId="{D2010696-B7A8-4A66-8561-C10E89E201F3}" srcOrd="3" destOrd="0" presId="urn:microsoft.com/office/officeart/2005/8/layout/radial3"/>
    <dgm:cxn modelId="{04009019-3BD5-43FA-9DA9-53AE6BF76A4C}" type="presParOf" srcId="{6AAA1420-CFEF-453E-8149-563D4DAE9F8D}" destId="{44124051-EBDD-431F-971D-EA5A47479AB5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072D63-A393-447C-8ACB-BDABC3CD07B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48AA080-9391-4613-AA42-6FF5AC3D9E75}">
      <dgm:prSet phldrT="[Text]" custT="1"/>
      <dgm:spPr>
        <a:solidFill>
          <a:srgbClr val="92D050"/>
        </a:solidFill>
      </dgm:spPr>
      <dgm:t>
        <a:bodyPr/>
        <a:lstStyle/>
        <a:p>
          <a:pPr algn="ctr"/>
          <a:r>
            <a:rPr lang="de-DE" sz="1900" dirty="0">
              <a:solidFill>
                <a:schemeClr val="tx1"/>
              </a:solidFill>
            </a:rPr>
            <a:t>Quality </a:t>
          </a:r>
          <a:r>
            <a:rPr lang="de-DE" sz="1900" dirty="0" err="1">
              <a:solidFill>
                <a:schemeClr val="tx1"/>
              </a:solidFill>
            </a:rPr>
            <a:t>control</a:t>
          </a:r>
          <a:endParaRPr lang="de-DE" sz="1900" dirty="0">
            <a:solidFill>
              <a:schemeClr val="tx1"/>
            </a:solidFill>
          </a:endParaRPr>
        </a:p>
      </dgm:t>
    </dgm:pt>
    <dgm:pt modelId="{90B78202-482B-4B7A-A310-FD0118459F3E}" type="parTrans" cxnId="{369987E8-CD39-421C-804F-D3E090226AB4}">
      <dgm:prSet/>
      <dgm:spPr/>
      <dgm:t>
        <a:bodyPr/>
        <a:lstStyle/>
        <a:p>
          <a:endParaRPr lang="de-DE" sz="1900"/>
        </a:p>
      </dgm:t>
    </dgm:pt>
    <dgm:pt modelId="{6581FB9E-DE47-451C-8094-4C82889A221D}" type="sibTrans" cxnId="{369987E8-CD39-421C-804F-D3E090226AB4}">
      <dgm:prSet custT="1"/>
      <dgm:spPr/>
      <dgm:t>
        <a:bodyPr/>
        <a:lstStyle/>
        <a:p>
          <a:endParaRPr lang="de-DE" sz="1900"/>
        </a:p>
      </dgm:t>
    </dgm:pt>
    <dgm:pt modelId="{A3C8F497-82C7-4E20-8EBF-269EBA7650D4}">
      <dgm:prSet phldrT="[Text]" custT="1"/>
      <dgm:spPr>
        <a:solidFill>
          <a:srgbClr val="92D050"/>
        </a:solidFill>
      </dgm:spPr>
      <dgm:t>
        <a:bodyPr/>
        <a:lstStyle/>
        <a:p>
          <a:pPr algn="ctr"/>
          <a:r>
            <a:rPr lang="de-DE" sz="1900" dirty="0">
              <a:solidFill>
                <a:schemeClr val="tx1"/>
              </a:solidFill>
            </a:rPr>
            <a:t>Annotation</a:t>
          </a:r>
        </a:p>
      </dgm:t>
    </dgm:pt>
    <dgm:pt modelId="{957C6704-AB58-408A-8C59-ADB933E62563}" type="parTrans" cxnId="{FE24BCA5-AC1E-478B-A264-123382229A03}">
      <dgm:prSet/>
      <dgm:spPr/>
      <dgm:t>
        <a:bodyPr/>
        <a:lstStyle/>
        <a:p>
          <a:endParaRPr lang="de-DE" sz="1900"/>
        </a:p>
      </dgm:t>
    </dgm:pt>
    <dgm:pt modelId="{A98845A2-8E33-4FF6-B77F-1527E5D3523B}" type="sibTrans" cxnId="{FE24BCA5-AC1E-478B-A264-123382229A03}">
      <dgm:prSet custT="1"/>
      <dgm:spPr/>
      <dgm:t>
        <a:bodyPr/>
        <a:lstStyle/>
        <a:p>
          <a:endParaRPr lang="de-DE" sz="1900"/>
        </a:p>
      </dgm:t>
    </dgm:pt>
    <dgm:pt modelId="{108FF57F-04F9-45C3-A4F4-4C49571A0078}">
      <dgm:prSet phldrT="[Text]" custT="1"/>
      <dgm:spPr>
        <a:solidFill>
          <a:srgbClr val="92D050"/>
        </a:solidFill>
      </dgm:spPr>
      <dgm:t>
        <a:bodyPr/>
        <a:lstStyle/>
        <a:p>
          <a:pPr algn="ctr"/>
          <a:r>
            <a:rPr lang="de-DE" sz="1900" dirty="0" err="1">
              <a:solidFill>
                <a:schemeClr val="tx1"/>
              </a:solidFill>
            </a:rPr>
            <a:t>Assembly</a:t>
          </a:r>
          <a:r>
            <a:rPr lang="de-DE" sz="1900" dirty="0">
              <a:solidFill>
                <a:schemeClr val="tx1"/>
              </a:solidFill>
            </a:rPr>
            <a:t>/</a:t>
          </a:r>
        </a:p>
        <a:p>
          <a:pPr algn="ctr"/>
          <a:r>
            <a:rPr lang="de-DE" sz="1900" dirty="0" err="1">
              <a:solidFill>
                <a:schemeClr val="tx1"/>
              </a:solidFill>
            </a:rPr>
            <a:t>Binning</a:t>
          </a:r>
          <a:endParaRPr lang="de-DE" sz="1900" dirty="0">
            <a:solidFill>
              <a:schemeClr val="tx1"/>
            </a:solidFill>
          </a:endParaRPr>
        </a:p>
      </dgm:t>
    </dgm:pt>
    <dgm:pt modelId="{C76A850C-9744-465B-906F-DE774AA06803}" type="parTrans" cxnId="{D7321B9E-C778-49E5-AFAE-3E35E9855905}">
      <dgm:prSet/>
      <dgm:spPr/>
      <dgm:t>
        <a:bodyPr/>
        <a:lstStyle/>
        <a:p>
          <a:endParaRPr lang="de-DE" sz="1900"/>
        </a:p>
      </dgm:t>
    </dgm:pt>
    <dgm:pt modelId="{14EB67FE-98B4-4D95-87EE-A0B41ACE30FF}" type="sibTrans" cxnId="{D7321B9E-C778-49E5-AFAE-3E35E9855905}">
      <dgm:prSet custT="1"/>
      <dgm:spPr/>
      <dgm:t>
        <a:bodyPr/>
        <a:lstStyle/>
        <a:p>
          <a:endParaRPr lang="de-DE" sz="1900"/>
        </a:p>
      </dgm:t>
    </dgm:pt>
    <dgm:pt modelId="{7806EF89-93D6-42D4-9597-7738F93CC64C}">
      <dgm:prSet phldrT="[Text]" custT="1"/>
      <dgm:spPr>
        <a:solidFill>
          <a:srgbClr val="92D050"/>
        </a:solidFill>
      </dgm:spPr>
      <dgm:t>
        <a:bodyPr/>
        <a:lstStyle/>
        <a:p>
          <a:pPr algn="ctr"/>
          <a:r>
            <a:rPr lang="de-DE" sz="1900" dirty="0" err="1">
              <a:solidFill>
                <a:schemeClr val="tx1"/>
              </a:solidFill>
            </a:rPr>
            <a:t>Visualization</a:t>
          </a:r>
          <a:r>
            <a:rPr lang="de-DE" sz="1900" dirty="0">
              <a:solidFill>
                <a:schemeClr val="tx1"/>
              </a:solidFill>
            </a:rPr>
            <a:t> </a:t>
          </a:r>
          <a:r>
            <a:rPr lang="de-DE" sz="1900" dirty="0" err="1">
              <a:solidFill>
                <a:schemeClr val="tx1"/>
              </a:solidFill>
            </a:rPr>
            <a:t>Statistics</a:t>
          </a:r>
          <a:endParaRPr lang="de-DE" sz="1900" dirty="0">
            <a:solidFill>
              <a:schemeClr val="tx1"/>
            </a:solidFill>
          </a:endParaRPr>
        </a:p>
      </dgm:t>
    </dgm:pt>
    <dgm:pt modelId="{B3030023-DDB3-45B9-A92D-428875508B0E}" type="parTrans" cxnId="{306015A5-7BD9-4352-A355-F46D77DA06A6}">
      <dgm:prSet/>
      <dgm:spPr/>
      <dgm:t>
        <a:bodyPr/>
        <a:lstStyle/>
        <a:p>
          <a:endParaRPr lang="de-DE" sz="1900"/>
        </a:p>
      </dgm:t>
    </dgm:pt>
    <dgm:pt modelId="{97A2C451-AD91-4B07-97CE-3E44A69357AD}" type="sibTrans" cxnId="{306015A5-7BD9-4352-A355-F46D77DA06A6}">
      <dgm:prSet/>
      <dgm:spPr/>
      <dgm:t>
        <a:bodyPr/>
        <a:lstStyle/>
        <a:p>
          <a:endParaRPr lang="de-DE" sz="1900"/>
        </a:p>
      </dgm:t>
    </dgm:pt>
    <dgm:pt modelId="{DE408C29-3564-41AF-8FD6-DF8F1128F8A3}" type="pres">
      <dgm:prSet presAssocID="{2B072D63-A393-447C-8ACB-BDABC3CD07BB}" presName="linearFlow" presStyleCnt="0">
        <dgm:presLayoutVars>
          <dgm:resizeHandles val="exact"/>
        </dgm:presLayoutVars>
      </dgm:prSet>
      <dgm:spPr/>
    </dgm:pt>
    <dgm:pt modelId="{86949D38-2232-44BD-BC99-2553B8FD699E}" type="pres">
      <dgm:prSet presAssocID="{648AA080-9391-4613-AA42-6FF5AC3D9E75}" presName="node" presStyleLbl="node1" presStyleIdx="0" presStyleCnt="4">
        <dgm:presLayoutVars>
          <dgm:bulletEnabled val="1"/>
        </dgm:presLayoutVars>
      </dgm:prSet>
      <dgm:spPr/>
    </dgm:pt>
    <dgm:pt modelId="{E95E76B7-7F53-4160-A8D2-E681D6202DC4}" type="pres">
      <dgm:prSet presAssocID="{6581FB9E-DE47-451C-8094-4C82889A221D}" presName="sibTrans" presStyleLbl="sibTrans2D1" presStyleIdx="0" presStyleCnt="3"/>
      <dgm:spPr/>
    </dgm:pt>
    <dgm:pt modelId="{1C3F5DAC-DA18-4A70-983F-D292D8F72641}" type="pres">
      <dgm:prSet presAssocID="{6581FB9E-DE47-451C-8094-4C82889A221D}" presName="connectorText" presStyleLbl="sibTrans2D1" presStyleIdx="0" presStyleCnt="3"/>
      <dgm:spPr/>
    </dgm:pt>
    <dgm:pt modelId="{884E9802-90C1-47FA-8E47-F14BF6F9E769}" type="pres">
      <dgm:prSet presAssocID="{108FF57F-04F9-45C3-A4F4-4C49571A0078}" presName="node" presStyleLbl="node1" presStyleIdx="1" presStyleCnt="4" custLinFactNeighborX="2094" custLinFactNeighborY="-18535">
        <dgm:presLayoutVars>
          <dgm:bulletEnabled val="1"/>
        </dgm:presLayoutVars>
      </dgm:prSet>
      <dgm:spPr/>
    </dgm:pt>
    <dgm:pt modelId="{F84AB14C-F220-4251-AC88-5BD8A3834DB8}" type="pres">
      <dgm:prSet presAssocID="{14EB67FE-98B4-4D95-87EE-A0B41ACE30FF}" presName="sibTrans" presStyleLbl="sibTrans2D1" presStyleIdx="1" presStyleCnt="3"/>
      <dgm:spPr/>
    </dgm:pt>
    <dgm:pt modelId="{32227BE9-A56C-4B31-ABA5-72020F6E58F0}" type="pres">
      <dgm:prSet presAssocID="{14EB67FE-98B4-4D95-87EE-A0B41ACE30FF}" presName="connectorText" presStyleLbl="sibTrans2D1" presStyleIdx="1" presStyleCnt="3"/>
      <dgm:spPr/>
    </dgm:pt>
    <dgm:pt modelId="{422BDA06-E577-446C-ABAA-7B3FFF76BD9A}" type="pres">
      <dgm:prSet presAssocID="{A3C8F497-82C7-4E20-8EBF-269EBA7650D4}" presName="node" presStyleLbl="node1" presStyleIdx="2" presStyleCnt="4">
        <dgm:presLayoutVars>
          <dgm:bulletEnabled val="1"/>
        </dgm:presLayoutVars>
      </dgm:prSet>
      <dgm:spPr/>
    </dgm:pt>
    <dgm:pt modelId="{54C3DBC0-C7D1-4EDC-BA81-DA8E1703AA08}" type="pres">
      <dgm:prSet presAssocID="{A98845A2-8E33-4FF6-B77F-1527E5D3523B}" presName="sibTrans" presStyleLbl="sibTrans2D1" presStyleIdx="2" presStyleCnt="3"/>
      <dgm:spPr/>
    </dgm:pt>
    <dgm:pt modelId="{15BEF34F-B386-4B99-B419-F19C7772E47E}" type="pres">
      <dgm:prSet presAssocID="{A98845A2-8E33-4FF6-B77F-1527E5D3523B}" presName="connectorText" presStyleLbl="sibTrans2D1" presStyleIdx="2" presStyleCnt="3"/>
      <dgm:spPr/>
    </dgm:pt>
    <dgm:pt modelId="{1ABA719E-0C94-456F-9DD7-20FC6A63B358}" type="pres">
      <dgm:prSet presAssocID="{7806EF89-93D6-42D4-9597-7738F93CC64C}" presName="node" presStyleLbl="node1" presStyleIdx="3" presStyleCnt="4">
        <dgm:presLayoutVars>
          <dgm:bulletEnabled val="1"/>
        </dgm:presLayoutVars>
      </dgm:prSet>
      <dgm:spPr/>
    </dgm:pt>
  </dgm:ptLst>
  <dgm:cxnLst>
    <dgm:cxn modelId="{43829C1E-6D1D-4C12-B82F-21B3A835979D}" type="presOf" srcId="{14EB67FE-98B4-4D95-87EE-A0B41ACE30FF}" destId="{F84AB14C-F220-4251-AC88-5BD8A3834DB8}" srcOrd="0" destOrd="0" presId="urn:microsoft.com/office/officeart/2005/8/layout/process2"/>
    <dgm:cxn modelId="{0B73D22A-A013-41E5-B4FB-452A44D00C9E}" type="presOf" srcId="{A98845A2-8E33-4FF6-B77F-1527E5D3523B}" destId="{54C3DBC0-C7D1-4EDC-BA81-DA8E1703AA08}" srcOrd="0" destOrd="0" presId="urn:microsoft.com/office/officeart/2005/8/layout/process2"/>
    <dgm:cxn modelId="{7779535C-FE11-4735-BB7A-53B94462A983}" type="presOf" srcId="{648AA080-9391-4613-AA42-6FF5AC3D9E75}" destId="{86949D38-2232-44BD-BC99-2553B8FD699E}" srcOrd="0" destOrd="0" presId="urn:microsoft.com/office/officeart/2005/8/layout/process2"/>
    <dgm:cxn modelId="{708E6D41-0268-44D8-8993-11D3D88D0342}" type="presOf" srcId="{2B072D63-A393-447C-8ACB-BDABC3CD07BB}" destId="{DE408C29-3564-41AF-8FD6-DF8F1128F8A3}" srcOrd="0" destOrd="0" presId="urn:microsoft.com/office/officeart/2005/8/layout/process2"/>
    <dgm:cxn modelId="{EEBF8C6F-BE44-45CD-815A-7545BBFEA8A5}" type="presOf" srcId="{6581FB9E-DE47-451C-8094-4C82889A221D}" destId="{E95E76B7-7F53-4160-A8D2-E681D6202DC4}" srcOrd="0" destOrd="0" presId="urn:microsoft.com/office/officeart/2005/8/layout/process2"/>
    <dgm:cxn modelId="{9543A98A-FF26-4748-8C6A-AA08930DFED7}" type="presOf" srcId="{14EB67FE-98B4-4D95-87EE-A0B41ACE30FF}" destId="{32227BE9-A56C-4B31-ABA5-72020F6E58F0}" srcOrd="1" destOrd="0" presId="urn:microsoft.com/office/officeart/2005/8/layout/process2"/>
    <dgm:cxn modelId="{0E131E98-9D7B-4885-AFE4-DC87754E3EC7}" type="presOf" srcId="{A3C8F497-82C7-4E20-8EBF-269EBA7650D4}" destId="{422BDA06-E577-446C-ABAA-7B3FFF76BD9A}" srcOrd="0" destOrd="0" presId="urn:microsoft.com/office/officeart/2005/8/layout/process2"/>
    <dgm:cxn modelId="{D7321B9E-C778-49E5-AFAE-3E35E9855905}" srcId="{2B072D63-A393-447C-8ACB-BDABC3CD07BB}" destId="{108FF57F-04F9-45C3-A4F4-4C49571A0078}" srcOrd="1" destOrd="0" parTransId="{C76A850C-9744-465B-906F-DE774AA06803}" sibTransId="{14EB67FE-98B4-4D95-87EE-A0B41ACE30FF}"/>
    <dgm:cxn modelId="{306015A5-7BD9-4352-A355-F46D77DA06A6}" srcId="{2B072D63-A393-447C-8ACB-BDABC3CD07BB}" destId="{7806EF89-93D6-42D4-9597-7738F93CC64C}" srcOrd="3" destOrd="0" parTransId="{B3030023-DDB3-45B9-A92D-428875508B0E}" sibTransId="{97A2C451-AD91-4B07-97CE-3E44A69357AD}"/>
    <dgm:cxn modelId="{FE24BCA5-AC1E-478B-A264-123382229A03}" srcId="{2B072D63-A393-447C-8ACB-BDABC3CD07BB}" destId="{A3C8F497-82C7-4E20-8EBF-269EBA7650D4}" srcOrd="2" destOrd="0" parTransId="{957C6704-AB58-408A-8C59-ADB933E62563}" sibTransId="{A98845A2-8E33-4FF6-B77F-1527E5D3523B}"/>
    <dgm:cxn modelId="{FC83FAC6-3E12-4960-B927-61013C9E0F80}" type="presOf" srcId="{A98845A2-8E33-4FF6-B77F-1527E5D3523B}" destId="{15BEF34F-B386-4B99-B419-F19C7772E47E}" srcOrd="1" destOrd="0" presId="urn:microsoft.com/office/officeart/2005/8/layout/process2"/>
    <dgm:cxn modelId="{369987E8-CD39-421C-804F-D3E090226AB4}" srcId="{2B072D63-A393-447C-8ACB-BDABC3CD07BB}" destId="{648AA080-9391-4613-AA42-6FF5AC3D9E75}" srcOrd="0" destOrd="0" parTransId="{90B78202-482B-4B7A-A310-FD0118459F3E}" sibTransId="{6581FB9E-DE47-451C-8094-4C82889A221D}"/>
    <dgm:cxn modelId="{FFF5D8E9-570C-4B55-9F35-768B425B45EA}" type="presOf" srcId="{108FF57F-04F9-45C3-A4F4-4C49571A0078}" destId="{884E9802-90C1-47FA-8E47-F14BF6F9E769}" srcOrd="0" destOrd="0" presId="urn:microsoft.com/office/officeart/2005/8/layout/process2"/>
    <dgm:cxn modelId="{A1D7BFED-D84A-4455-AD7D-570802878514}" type="presOf" srcId="{6581FB9E-DE47-451C-8094-4C82889A221D}" destId="{1C3F5DAC-DA18-4A70-983F-D292D8F72641}" srcOrd="1" destOrd="0" presId="urn:microsoft.com/office/officeart/2005/8/layout/process2"/>
    <dgm:cxn modelId="{66FAD1FF-6312-4930-84FB-8EEF1DF861A3}" type="presOf" srcId="{7806EF89-93D6-42D4-9597-7738F93CC64C}" destId="{1ABA719E-0C94-456F-9DD7-20FC6A63B358}" srcOrd="0" destOrd="0" presId="urn:microsoft.com/office/officeart/2005/8/layout/process2"/>
    <dgm:cxn modelId="{75B4A373-E408-4B42-B5E9-4CF88FCB6DA4}" type="presParOf" srcId="{DE408C29-3564-41AF-8FD6-DF8F1128F8A3}" destId="{86949D38-2232-44BD-BC99-2553B8FD699E}" srcOrd="0" destOrd="0" presId="urn:microsoft.com/office/officeart/2005/8/layout/process2"/>
    <dgm:cxn modelId="{04E6CE0B-193E-4472-8972-BF0560E037EB}" type="presParOf" srcId="{DE408C29-3564-41AF-8FD6-DF8F1128F8A3}" destId="{E95E76B7-7F53-4160-A8D2-E681D6202DC4}" srcOrd="1" destOrd="0" presId="urn:microsoft.com/office/officeart/2005/8/layout/process2"/>
    <dgm:cxn modelId="{EDF9BC9A-18B8-43D0-AC65-7CB10560440A}" type="presParOf" srcId="{E95E76B7-7F53-4160-A8D2-E681D6202DC4}" destId="{1C3F5DAC-DA18-4A70-983F-D292D8F72641}" srcOrd="0" destOrd="0" presId="urn:microsoft.com/office/officeart/2005/8/layout/process2"/>
    <dgm:cxn modelId="{66F3FB82-1B70-49A3-AB58-452FBE6E00EC}" type="presParOf" srcId="{DE408C29-3564-41AF-8FD6-DF8F1128F8A3}" destId="{884E9802-90C1-47FA-8E47-F14BF6F9E769}" srcOrd="2" destOrd="0" presId="urn:microsoft.com/office/officeart/2005/8/layout/process2"/>
    <dgm:cxn modelId="{9E1CDC4E-F435-4948-A6E8-A775EF95552E}" type="presParOf" srcId="{DE408C29-3564-41AF-8FD6-DF8F1128F8A3}" destId="{F84AB14C-F220-4251-AC88-5BD8A3834DB8}" srcOrd="3" destOrd="0" presId="urn:microsoft.com/office/officeart/2005/8/layout/process2"/>
    <dgm:cxn modelId="{C8E22538-EFD8-4C04-898F-6EC68415EE6C}" type="presParOf" srcId="{F84AB14C-F220-4251-AC88-5BD8A3834DB8}" destId="{32227BE9-A56C-4B31-ABA5-72020F6E58F0}" srcOrd="0" destOrd="0" presId="urn:microsoft.com/office/officeart/2005/8/layout/process2"/>
    <dgm:cxn modelId="{B1C59BA5-8A37-4A66-BCBD-264738ABB418}" type="presParOf" srcId="{DE408C29-3564-41AF-8FD6-DF8F1128F8A3}" destId="{422BDA06-E577-446C-ABAA-7B3FFF76BD9A}" srcOrd="4" destOrd="0" presId="urn:microsoft.com/office/officeart/2005/8/layout/process2"/>
    <dgm:cxn modelId="{FBE37EB1-C347-4D50-A8E2-E042FFC6DB3C}" type="presParOf" srcId="{DE408C29-3564-41AF-8FD6-DF8F1128F8A3}" destId="{54C3DBC0-C7D1-4EDC-BA81-DA8E1703AA08}" srcOrd="5" destOrd="0" presId="urn:microsoft.com/office/officeart/2005/8/layout/process2"/>
    <dgm:cxn modelId="{41E92C13-016E-4B17-B15D-05713E629032}" type="presParOf" srcId="{54C3DBC0-C7D1-4EDC-BA81-DA8E1703AA08}" destId="{15BEF34F-B386-4B99-B419-F19C7772E47E}" srcOrd="0" destOrd="0" presId="urn:microsoft.com/office/officeart/2005/8/layout/process2"/>
    <dgm:cxn modelId="{306DAE2C-2D6D-4EF1-9FAB-61826B6801E7}" type="presParOf" srcId="{DE408C29-3564-41AF-8FD6-DF8F1128F8A3}" destId="{1ABA719E-0C94-456F-9DD7-20FC6A63B358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072D63-A393-447C-8ACB-BDABC3CD07B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48AA080-9391-4613-AA42-6FF5AC3D9E75}">
      <dgm:prSet phldrT="[Text]" custT="1"/>
      <dgm:spPr>
        <a:solidFill>
          <a:srgbClr val="92D050"/>
        </a:solidFill>
      </dgm:spPr>
      <dgm:t>
        <a:bodyPr/>
        <a:lstStyle/>
        <a:p>
          <a:pPr algn="ctr"/>
          <a:r>
            <a:rPr lang="de-DE" sz="1800" dirty="0">
              <a:solidFill>
                <a:schemeClr val="tx1"/>
              </a:solidFill>
            </a:rPr>
            <a:t>DNA </a:t>
          </a:r>
          <a:r>
            <a:rPr lang="de-DE" sz="1800" dirty="0" err="1">
              <a:solidFill>
                <a:schemeClr val="tx1"/>
              </a:solidFill>
            </a:rPr>
            <a:t>extraction</a:t>
          </a:r>
          <a:endParaRPr lang="de-DE" sz="1800" dirty="0">
            <a:solidFill>
              <a:schemeClr val="tx1"/>
            </a:solidFill>
          </a:endParaRPr>
        </a:p>
      </dgm:t>
    </dgm:pt>
    <dgm:pt modelId="{90B78202-482B-4B7A-A310-FD0118459F3E}" type="parTrans" cxnId="{369987E8-CD39-421C-804F-D3E090226AB4}">
      <dgm:prSet/>
      <dgm:spPr/>
      <dgm:t>
        <a:bodyPr/>
        <a:lstStyle/>
        <a:p>
          <a:endParaRPr lang="de-DE" sz="1800">
            <a:solidFill>
              <a:schemeClr val="tx1"/>
            </a:solidFill>
          </a:endParaRPr>
        </a:p>
      </dgm:t>
    </dgm:pt>
    <dgm:pt modelId="{6581FB9E-DE47-451C-8094-4C82889A221D}" type="sibTrans" cxnId="{369987E8-CD39-421C-804F-D3E090226AB4}">
      <dgm:prSet custT="1"/>
      <dgm:spPr/>
      <dgm:t>
        <a:bodyPr/>
        <a:lstStyle/>
        <a:p>
          <a:endParaRPr lang="de-DE" sz="1800">
            <a:solidFill>
              <a:schemeClr val="tx1"/>
            </a:solidFill>
          </a:endParaRPr>
        </a:p>
      </dgm:t>
    </dgm:pt>
    <dgm:pt modelId="{A3C8F497-82C7-4E20-8EBF-269EBA7650D4}">
      <dgm:prSet phldrT="[Text]" custT="1"/>
      <dgm:spPr>
        <a:solidFill>
          <a:srgbClr val="92D050"/>
        </a:solidFill>
      </dgm:spPr>
      <dgm:t>
        <a:bodyPr/>
        <a:lstStyle/>
        <a:p>
          <a:pPr algn="ctr"/>
          <a:r>
            <a:rPr lang="de-DE" sz="1800" dirty="0" err="1">
              <a:solidFill>
                <a:schemeClr val="tx1"/>
              </a:solidFill>
            </a:rPr>
            <a:t>Sequencing</a:t>
          </a:r>
          <a:endParaRPr lang="de-DE" sz="1800" dirty="0">
            <a:solidFill>
              <a:schemeClr val="tx1"/>
            </a:solidFill>
          </a:endParaRPr>
        </a:p>
      </dgm:t>
    </dgm:pt>
    <dgm:pt modelId="{957C6704-AB58-408A-8C59-ADB933E62563}" type="parTrans" cxnId="{FE24BCA5-AC1E-478B-A264-123382229A03}">
      <dgm:prSet/>
      <dgm:spPr/>
      <dgm:t>
        <a:bodyPr/>
        <a:lstStyle/>
        <a:p>
          <a:endParaRPr lang="de-DE" sz="1800">
            <a:solidFill>
              <a:schemeClr val="tx1"/>
            </a:solidFill>
          </a:endParaRPr>
        </a:p>
      </dgm:t>
    </dgm:pt>
    <dgm:pt modelId="{A98845A2-8E33-4FF6-B77F-1527E5D3523B}" type="sibTrans" cxnId="{FE24BCA5-AC1E-478B-A264-123382229A03}">
      <dgm:prSet custT="1"/>
      <dgm:spPr/>
      <dgm:t>
        <a:bodyPr/>
        <a:lstStyle/>
        <a:p>
          <a:endParaRPr lang="de-DE" sz="1800">
            <a:solidFill>
              <a:schemeClr val="tx1"/>
            </a:solidFill>
          </a:endParaRPr>
        </a:p>
      </dgm:t>
    </dgm:pt>
    <dgm:pt modelId="{108FF57F-04F9-45C3-A4F4-4C49571A0078}">
      <dgm:prSet phldrT="[Text]" custT="1"/>
      <dgm:spPr>
        <a:solidFill>
          <a:srgbClr val="92D050"/>
        </a:solidFill>
      </dgm:spPr>
      <dgm:t>
        <a:bodyPr/>
        <a:lstStyle/>
        <a:p>
          <a:pPr algn="ctr"/>
          <a:r>
            <a:rPr lang="de-DE" sz="1400" dirty="0" err="1">
              <a:solidFill>
                <a:schemeClr val="tx1"/>
              </a:solidFill>
            </a:rPr>
            <a:t>Fragmentation</a:t>
          </a:r>
          <a:endParaRPr lang="de-DE" sz="1400" dirty="0">
            <a:solidFill>
              <a:schemeClr val="tx1"/>
            </a:solidFill>
          </a:endParaRPr>
        </a:p>
      </dgm:t>
    </dgm:pt>
    <dgm:pt modelId="{C76A850C-9744-465B-906F-DE774AA06803}" type="parTrans" cxnId="{D7321B9E-C778-49E5-AFAE-3E35E9855905}">
      <dgm:prSet/>
      <dgm:spPr/>
      <dgm:t>
        <a:bodyPr/>
        <a:lstStyle/>
        <a:p>
          <a:endParaRPr lang="de-DE" sz="1800">
            <a:solidFill>
              <a:schemeClr val="tx1"/>
            </a:solidFill>
          </a:endParaRPr>
        </a:p>
      </dgm:t>
    </dgm:pt>
    <dgm:pt modelId="{14EB67FE-98B4-4D95-87EE-A0B41ACE30FF}" type="sibTrans" cxnId="{D7321B9E-C778-49E5-AFAE-3E35E9855905}">
      <dgm:prSet custT="1"/>
      <dgm:spPr/>
      <dgm:t>
        <a:bodyPr/>
        <a:lstStyle/>
        <a:p>
          <a:endParaRPr lang="de-DE" sz="1800">
            <a:solidFill>
              <a:schemeClr val="tx1"/>
            </a:solidFill>
          </a:endParaRPr>
        </a:p>
      </dgm:t>
    </dgm:pt>
    <dgm:pt modelId="{DE408C29-3564-41AF-8FD6-DF8F1128F8A3}" type="pres">
      <dgm:prSet presAssocID="{2B072D63-A393-447C-8ACB-BDABC3CD07BB}" presName="linearFlow" presStyleCnt="0">
        <dgm:presLayoutVars>
          <dgm:resizeHandles val="exact"/>
        </dgm:presLayoutVars>
      </dgm:prSet>
      <dgm:spPr/>
    </dgm:pt>
    <dgm:pt modelId="{86949D38-2232-44BD-BC99-2553B8FD699E}" type="pres">
      <dgm:prSet presAssocID="{648AA080-9391-4613-AA42-6FF5AC3D9E75}" presName="node" presStyleLbl="node1" presStyleIdx="0" presStyleCnt="3">
        <dgm:presLayoutVars>
          <dgm:bulletEnabled val="1"/>
        </dgm:presLayoutVars>
      </dgm:prSet>
      <dgm:spPr/>
    </dgm:pt>
    <dgm:pt modelId="{E95E76B7-7F53-4160-A8D2-E681D6202DC4}" type="pres">
      <dgm:prSet presAssocID="{6581FB9E-DE47-451C-8094-4C82889A221D}" presName="sibTrans" presStyleLbl="sibTrans2D1" presStyleIdx="0" presStyleCnt="2"/>
      <dgm:spPr/>
    </dgm:pt>
    <dgm:pt modelId="{1C3F5DAC-DA18-4A70-983F-D292D8F72641}" type="pres">
      <dgm:prSet presAssocID="{6581FB9E-DE47-451C-8094-4C82889A221D}" presName="connectorText" presStyleLbl="sibTrans2D1" presStyleIdx="0" presStyleCnt="2"/>
      <dgm:spPr/>
    </dgm:pt>
    <dgm:pt modelId="{884E9802-90C1-47FA-8E47-F14BF6F9E769}" type="pres">
      <dgm:prSet presAssocID="{108FF57F-04F9-45C3-A4F4-4C49571A0078}" presName="node" presStyleLbl="node1" presStyleIdx="1" presStyleCnt="3" custLinFactNeighborX="2094" custLinFactNeighborY="-18535">
        <dgm:presLayoutVars>
          <dgm:bulletEnabled val="1"/>
        </dgm:presLayoutVars>
      </dgm:prSet>
      <dgm:spPr/>
    </dgm:pt>
    <dgm:pt modelId="{F84AB14C-F220-4251-AC88-5BD8A3834DB8}" type="pres">
      <dgm:prSet presAssocID="{14EB67FE-98B4-4D95-87EE-A0B41ACE30FF}" presName="sibTrans" presStyleLbl="sibTrans2D1" presStyleIdx="1" presStyleCnt="2" custFlipHor="1" custScaleX="69270"/>
      <dgm:spPr/>
    </dgm:pt>
    <dgm:pt modelId="{32227BE9-A56C-4B31-ABA5-72020F6E58F0}" type="pres">
      <dgm:prSet presAssocID="{14EB67FE-98B4-4D95-87EE-A0B41ACE30FF}" presName="connectorText" presStyleLbl="sibTrans2D1" presStyleIdx="1" presStyleCnt="2"/>
      <dgm:spPr/>
    </dgm:pt>
    <dgm:pt modelId="{422BDA06-E577-446C-ABAA-7B3FFF76BD9A}" type="pres">
      <dgm:prSet presAssocID="{A3C8F497-82C7-4E20-8EBF-269EBA7650D4}" presName="node" presStyleLbl="node1" presStyleIdx="2" presStyleCnt="3" custLinFactY="71595" custLinFactNeighborX="806" custLinFactNeighborY="100000">
        <dgm:presLayoutVars>
          <dgm:bulletEnabled val="1"/>
        </dgm:presLayoutVars>
      </dgm:prSet>
      <dgm:spPr/>
    </dgm:pt>
  </dgm:ptLst>
  <dgm:cxnLst>
    <dgm:cxn modelId="{8BAC2C54-A6AF-4E57-BB7E-C2F34A0A167D}" type="presOf" srcId="{14EB67FE-98B4-4D95-87EE-A0B41ACE30FF}" destId="{F84AB14C-F220-4251-AC88-5BD8A3834DB8}" srcOrd="0" destOrd="0" presId="urn:microsoft.com/office/officeart/2005/8/layout/process2"/>
    <dgm:cxn modelId="{97FC0F55-7BF2-4B91-9741-E49FEF2619B4}" type="presOf" srcId="{2B072D63-A393-447C-8ACB-BDABC3CD07BB}" destId="{DE408C29-3564-41AF-8FD6-DF8F1128F8A3}" srcOrd="0" destOrd="0" presId="urn:microsoft.com/office/officeart/2005/8/layout/process2"/>
    <dgm:cxn modelId="{CB711B82-83E0-4504-AE18-20A3AF90C60C}" type="presOf" srcId="{A3C8F497-82C7-4E20-8EBF-269EBA7650D4}" destId="{422BDA06-E577-446C-ABAA-7B3FFF76BD9A}" srcOrd="0" destOrd="0" presId="urn:microsoft.com/office/officeart/2005/8/layout/process2"/>
    <dgm:cxn modelId="{2A16848E-221D-4CDC-B3AB-33E2FC85B732}" type="presOf" srcId="{6581FB9E-DE47-451C-8094-4C82889A221D}" destId="{1C3F5DAC-DA18-4A70-983F-D292D8F72641}" srcOrd="1" destOrd="0" presId="urn:microsoft.com/office/officeart/2005/8/layout/process2"/>
    <dgm:cxn modelId="{8E5FA29C-3071-4211-B879-CF5CBA53C8F3}" type="presOf" srcId="{648AA080-9391-4613-AA42-6FF5AC3D9E75}" destId="{86949D38-2232-44BD-BC99-2553B8FD699E}" srcOrd="0" destOrd="0" presId="urn:microsoft.com/office/officeart/2005/8/layout/process2"/>
    <dgm:cxn modelId="{D7321B9E-C778-49E5-AFAE-3E35E9855905}" srcId="{2B072D63-A393-447C-8ACB-BDABC3CD07BB}" destId="{108FF57F-04F9-45C3-A4F4-4C49571A0078}" srcOrd="1" destOrd="0" parTransId="{C76A850C-9744-465B-906F-DE774AA06803}" sibTransId="{14EB67FE-98B4-4D95-87EE-A0B41ACE30FF}"/>
    <dgm:cxn modelId="{FE24BCA5-AC1E-478B-A264-123382229A03}" srcId="{2B072D63-A393-447C-8ACB-BDABC3CD07BB}" destId="{A3C8F497-82C7-4E20-8EBF-269EBA7650D4}" srcOrd="2" destOrd="0" parTransId="{957C6704-AB58-408A-8C59-ADB933E62563}" sibTransId="{A98845A2-8E33-4FF6-B77F-1527E5D3523B}"/>
    <dgm:cxn modelId="{DF1F9BAD-5BCD-4D52-8483-0BB1198903F3}" type="presOf" srcId="{14EB67FE-98B4-4D95-87EE-A0B41ACE30FF}" destId="{32227BE9-A56C-4B31-ABA5-72020F6E58F0}" srcOrd="1" destOrd="0" presId="urn:microsoft.com/office/officeart/2005/8/layout/process2"/>
    <dgm:cxn modelId="{D70711CD-5CE3-4A42-8312-AF2AED8FD642}" type="presOf" srcId="{108FF57F-04F9-45C3-A4F4-4C49571A0078}" destId="{884E9802-90C1-47FA-8E47-F14BF6F9E769}" srcOrd="0" destOrd="0" presId="urn:microsoft.com/office/officeart/2005/8/layout/process2"/>
    <dgm:cxn modelId="{69EF66DE-5ACB-4A2F-856E-DD3E3607B2DB}" type="presOf" srcId="{6581FB9E-DE47-451C-8094-4C82889A221D}" destId="{E95E76B7-7F53-4160-A8D2-E681D6202DC4}" srcOrd="0" destOrd="0" presId="urn:microsoft.com/office/officeart/2005/8/layout/process2"/>
    <dgm:cxn modelId="{369987E8-CD39-421C-804F-D3E090226AB4}" srcId="{2B072D63-A393-447C-8ACB-BDABC3CD07BB}" destId="{648AA080-9391-4613-AA42-6FF5AC3D9E75}" srcOrd="0" destOrd="0" parTransId="{90B78202-482B-4B7A-A310-FD0118459F3E}" sibTransId="{6581FB9E-DE47-451C-8094-4C82889A221D}"/>
    <dgm:cxn modelId="{198B3317-4851-480F-93A9-F03AA9184012}" type="presParOf" srcId="{DE408C29-3564-41AF-8FD6-DF8F1128F8A3}" destId="{86949D38-2232-44BD-BC99-2553B8FD699E}" srcOrd="0" destOrd="0" presId="urn:microsoft.com/office/officeart/2005/8/layout/process2"/>
    <dgm:cxn modelId="{C0190C6D-27F9-4D87-AF08-F47E8CDEA2AD}" type="presParOf" srcId="{DE408C29-3564-41AF-8FD6-DF8F1128F8A3}" destId="{E95E76B7-7F53-4160-A8D2-E681D6202DC4}" srcOrd="1" destOrd="0" presId="urn:microsoft.com/office/officeart/2005/8/layout/process2"/>
    <dgm:cxn modelId="{97B5158F-4A52-4CD9-9600-0EC916A2E610}" type="presParOf" srcId="{E95E76B7-7F53-4160-A8D2-E681D6202DC4}" destId="{1C3F5DAC-DA18-4A70-983F-D292D8F72641}" srcOrd="0" destOrd="0" presId="urn:microsoft.com/office/officeart/2005/8/layout/process2"/>
    <dgm:cxn modelId="{83D08234-64AD-4650-B1B3-95F9DADEB082}" type="presParOf" srcId="{DE408C29-3564-41AF-8FD6-DF8F1128F8A3}" destId="{884E9802-90C1-47FA-8E47-F14BF6F9E769}" srcOrd="2" destOrd="0" presId="urn:microsoft.com/office/officeart/2005/8/layout/process2"/>
    <dgm:cxn modelId="{1D4B37CE-FACC-496C-9D78-82ED5CA3A4E8}" type="presParOf" srcId="{DE408C29-3564-41AF-8FD6-DF8F1128F8A3}" destId="{F84AB14C-F220-4251-AC88-5BD8A3834DB8}" srcOrd="3" destOrd="0" presId="urn:microsoft.com/office/officeart/2005/8/layout/process2"/>
    <dgm:cxn modelId="{952A899C-EB30-4DBC-9C79-2B2EAB9FA2A5}" type="presParOf" srcId="{F84AB14C-F220-4251-AC88-5BD8A3834DB8}" destId="{32227BE9-A56C-4B31-ABA5-72020F6E58F0}" srcOrd="0" destOrd="0" presId="urn:microsoft.com/office/officeart/2005/8/layout/process2"/>
    <dgm:cxn modelId="{094CD0BF-1D32-4E49-BB2E-46332BFDD479}" type="presParOf" srcId="{DE408C29-3564-41AF-8FD6-DF8F1128F8A3}" destId="{422BDA06-E577-446C-ABAA-7B3FFF76BD9A}" srcOrd="4" destOrd="0" presId="urn:microsoft.com/office/officeart/2005/8/layout/process2"/>
  </dgm:cxnLst>
  <dgm:bg>
    <a:noFill/>
  </dgm:bg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072D63-A393-447C-8ACB-BDABC3CD07B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48AA080-9391-4613-AA42-6FF5AC3D9E75}">
      <dgm:prSet phldrT="[Text]" custT="1"/>
      <dgm:spPr>
        <a:solidFill>
          <a:srgbClr val="92D050"/>
        </a:solidFill>
      </dgm:spPr>
      <dgm:t>
        <a:bodyPr/>
        <a:lstStyle/>
        <a:p>
          <a:pPr algn="ctr"/>
          <a:r>
            <a:rPr lang="de-DE" sz="1800" dirty="0">
              <a:solidFill>
                <a:schemeClr val="tx1"/>
              </a:solidFill>
            </a:rPr>
            <a:t>DNA </a:t>
          </a:r>
          <a:r>
            <a:rPr lang="de-DE" sz="1800" dirty="0" err="1">
              <a:solidFill>
                <a:schemeClr val="tx1"/>
              </a:solidFill>
            </a:rPr>
            <a:t>extraction</a:t>
          </a:r>
          <a:endParaRPr lang="de-DE" sz="1800" dirty="0">
            <a:solidFill>
              <a:schemeClr val="tx1"/>
            </a:solidFill>
          </a:endParaRPr>
        </a:p>
      </dgm:t>
    </dgm:pt>
    <dgm:pt modelId="{90B78202-482B-4B7A-A310-FD0118459F3E}" type="parTrans" cxnId="{369987E8-CD39-421C-804F-D3E090226AB4}">
      <dgm:prSet/>
      <dgm:spPr/>
      <dgm:t>
        <a:bodyPr/>
        <a:lstStyle/>
        <a:p>
          <a:endParaRPr lang="de-DE" sz="1800">
            <a:solidFill>
              <a:schemeClr val="tx1"/>
            </a:solidFill>
          </a:endParaRPr>
        </a:p>
      </dgm:t>
    </dgm:pt>
    <dgm:pt modelId="{6581FB9E-DE47-451C-8094-4C82889A221D}" type="sibTrans" cxnId="{369987E8-CD39-421C-804F-D3E090226AB4}">
      <dgm:prSet custT="1"/>
      <dgm:spPr/>
      <dgm:t>
        <a:bodyPr/>
        <a:lstStyle/>
        <a:p>
          <a:endParaRPr lang="de-DE" sz="1800">
            <a:solidFill>
              <a:schemeClr val="tx1"/>
            </a:solidFill>
          </a:endParaRPr>
        </a:p>
      </dgm:t>
    </dgm:pt>
    <dgm:pt modelId="{A3C8F497-82C7-4E20-8EBF-269EBA7650D4}">
      <dgm:prSet phldrT="[Text]" custT="1"/>
      <dgm:spPr>
        <a:solidFill>
          <a:srgbClr val="92D050"/>
        </a:solidFill>
      </dgm:spPr>
      <dgm:t>
        <a:bodyPr/>
        <a:lstStyle/>
        <a:p>
          <a:pPr algn="ctr"/>
          <a:r>
            <a:rPr lang="de-DE" sz="1800" dirty="0" err="1">
              <a:solidFill>
                <a:schemeClr val="tx1"/>
              </a:solidFill>
            </a:rPr>
            <a:t>Sequencing</a:t>
          </a:r>
          <a:endParaRPr lang="de-DE" sz="1800" dirty="0">
            <a:solidFill>
              <a:schemeClr val="tx1"/>
            </a:solidFill>
          </a:endParaRPr>
        </a:p>
      </dgm:t>
    </dgm:pt>
    <dgm:pt modelId="{957C6704-AB58-408A-8C59-ADB933E62563}" type="parTrans" cxnId="{FE24BCA5-AC1E-478B-A264-123382229A03}">
      <dgm:prSet/>
      <dgm:spPr/>
      <dgm:t>
        <a:bodyPr/>
        <a:lstStyle/>
        <a:p>
          <a:endParaRPr lang="de-DE" sz="1800">
            <a:solidFill>
              <a:schemeClr val="tx1"/>
            </a:solidFill>
          </a:endParaRPr>
        </a:p>
      </dgm:t>
    </dgm:pt>
    <dgm:pt modelId="{A98845A2-8E33-4FF6-B77F-1527E5D3523B}" type="sibTrans" cxnId="{FE24BCA5-AC1E-478B-A264-123382229A03}">
      <dgm:prSet custT="1"/>
      <dgm:spPr/>
      <dgm:t>
        <a:bodyPr/>
        <a:lstStyle/>
        <a:p>
          <a:endParaRPr lang="de-DE" sz="1800">
            <a:solidFill>
              <a:schemeClr val="tx1"/>
            </a:solidFill>
          </a:endParaRPr>
        </a:p>
      </dgm:t>
    </dgm:pt>
    <dgm:pt modelId="{108FF57F-04F9-45C3-A4F4-4C49571A0078}">
      <dgm:prSet phldrT="[Text]" custT="1"/>
      <dgm:spPr>
        <a:solidFill>
          <a:srgbClr val="92D050"/>
        </a:solidFill>
      </dgm:spPr>
      <dgm:t>
        <a:bodyPr/>
        <a:lstStyle/>
        <a:p>
          <a:pPr algn="ctr"/>
          <a:r>
            <a:rPr lang="de-DE" sz="1400" dirty="0" err="1">
              <a:solidFill>
                <a:schemeClr val="tx1"/>
              </a:solidFill>
            </a:rPr>
            <a:t>Fragmentation</a:t>
          </a:r>
          <a:endParaRPr lang="de-DE" sz="1400" dirty="0">
            <a:solidFill>
              <a:schemeClr val="tx1"/>
            </a:solidFill>
          </a:endParaRPr>
        </a:p>
      </dgm:t>
    </dgm:pt>
    <dgm:pt modelId="{C76A850C-9744-465B-906F-DE774AA06803}" type="parTrans" cxnId="{D7321B9E-C778-49E5-AFAE-3E35E9855905}">
      <dgm:prSet/>
      <dgm:spPr/>
      <dgm:t>
        <a:bodyPr/>
        <a:lstStyle/>
        <a:p>
          <a:endParaRPr lang="de-DE" sz="1800">
            <a:solidFill>
              <a:schemeClr val="tx1"/>
            </a:solidFill>
          </a:endParaRPr>
        </a:p>
      </dgm:t>
    </dgm:pt>
    <dgm:pt modelId="{14EB67FE-98B4-4D95-87EE-A0B41ACE30FF}" type="sibTrans" cxnId="{D7321B9E-C778-49E5-AFAE-3E35E9855905}">
      <dgm:prSet custT="1"/>
      <dgm:spPr/>
      <dgm:t>
        <a:bodyPr/>
        <a:lstStyle/>
        <a:p>
          <a:endParaRPr lang="de-DE" sz="1800">
            <a:solidFill>
              <a:schemeClr val="tx1"/>
            </a:solidFill>
          </a:endParaRPr>
        </a:p>
      </dgm:t>
    </dgm:pt>
    <dgm:pt modelId="{DE408C29-3564-41AF-8FD6-DF8F1128F8A3}" type="pres">
      <dgm:prSet presAssocID="{2B072D63-A393-447C-8ACB-BDABC3CD07BB}" presName="linearFlow" presStyleCnt="0">
        <dgm:presLayoutVars>
          <dgm:resizeHandles val="exact"/>
        </dgm:presLayoutVars>
      </dgm:prSet>
      <dgm:spPr/>
    </dgm:pt>
    <dgm:pt modelId="{86949D38-2232-44BD-BC99-2553B8FD699E}" type="pres">
      <dgm:prSet presAssocID="{648AA080-9391-4613-AA42-6FF5AC3D9E75}" presName="node" presStyleLbl="node1" presStyleIdx="0" presStyleCnt="3">
        <dgm:presLayoutVars>
          <dgm:bulletEnabled val="1"/>
        </dgm:presLayoutVars>
      </dgm:prSet>
      <dgm:spPr/>
    </dgm:pt>
    <dgm:pt modelId="{E95E76B7-7F53-4160-A8D2-E681D6202DC4}" type="pres">
      <dgm:prSet presAssocID="{6581FB9E-DE47-451C-8094-4C82889A221D}" presName="sibTrans" presStyleLbl="sibTrans2D1" presStyleIdx="0" presStyleCnt="2"/>
      <dgm:spPr/>
    </dgm:pt>
    <dgm:pt modelId="{1C3F5DAC-DA18-4A70-983F-D292D8F72641}" type="pres">
      <dgm:prSet presAssocID="{6581FB9E-DE47-451C-8094-4C82889A221D}" presName="connectorText" presStyleLbl="sibTrans2D1" presStyleIdx="0" presStyleCnt="2"/>
      <dgm:spPr/>
    </dgm:pt>
    <dgm:pt modelId="{884E9802-90C1-47FA-8E47-F14BF6F9E769}" type="pres">
      <dgm:prSet presAssocID="{108FF57F-04F9-45C3-A4F4-4C49571A0078}" presName="node" presStyleLbl="node1" presStyleIdx="1" presStyleCnt="3" custLinFactNeighborX="2094" custLinFactNeighborY="-18535">
        <dgm:presLayoutVars>
          <dgm:bulletEnabled val="1"/>
        </dgm:presLayoutVars>
      </dgm:prSet>
      <dgm:spPr/>
    </dgm:pt>
    <dgm:pt modelId="{F84AB14C-F220-4251-AC88-5BD8A3834DB8}" type="pres">
      <dgm:prSet presAssocID="{14EB67FE-98B4-4D95-87EE-A0B41ACE30FF}" presName="sibTrans" presStyleLbl="sibTrans2D1" presStyleIdx="1" presStyleCnt="2" custFlipHor="1" custScaleX="69270"/>
      <dgm:spPr/>
    </dgm:pt>
    <dgm:pt modelId="{32227BE9-A56C-4B31-ABA5-72020F6E58F0}" type="pres">
      <dgm:prSet presAssocID="{14EB67FE-98B4-4D95-87EE-A0B41ACE30FF}" presName="connectorText" presStyleLbl="sibTrans2D1" presStyleIdx="1" presStyleCnt="2"/>
      <dgm:spPr/>
    </dgm:pt>
    <dgm:pt modelId="{422BDA06-E577-446C-ABAA-7B3FFF76BD9A}" type="pres">
      <dgm:prSet presAssocID="{A3C8F497-82C7-4E20-8EBF-269EBA7650D4}" presName="node" presStyleLbl="node1" presStyleIdx="2" presStyleCnt="3" custLinFactY="71595" custLinFactNeighborX="806" custLinFactNeighborY="100000">
        <dgm:presLayoutVars>
          <dgm:bulletEnabled val="1"/>
        </dgm:presLayoutVars>
      </dgm:prSet>
      <dgm:spPr/>
    </dgm:pt>
  </dgm:ptLst>
  <dgm:cxnLst>
    <dgm:cxn modelId="{8BAC2C54-A6AF-4E57-BB7E-C2F34A0A167D}" type="presOf" srcId="{14EB67FE-98B4-4D95-87EE-A0B41ACE30FF}" destId="{F84AB14C-F220-4251-AC88-5BD8A3834DB8}" srcOrd="0" destOrd="0" presId="urn:microsoft.com/office/officeart/2005/8/layout/process2"/>
    <dgm:cxn modelId="{97FC0F55-7BF2-4B91-9741-E49FEF2619B4}" type="presOf" srcId="{2B072D63-A393-447C-8ACB-BDABC3CD07BB}" destId="{DE408C29-3564-41AF-8FD6-DF8F1128F8A3}" srcOrd="0" destOrd="0" presId="urn:microsoft.com/office/officeart/2005/8/layout/process2"/>
    <dgm:cxn modelId="{CB711B82-83E0-4504-AE18-20A3AF90C60C}" type="presOf" srcId="{A3C8F497-82C7-4E20-8EBF-269EBA7650D4}" destId="{422BDA06-E577-446C-ABAA-7B3FFF76BD9A}" srcOrd="0" destOrd="0" presId="urn:microsoft.com/office/officeart/2005/8/layout/process2"/>
    <dgm:cxn modelId="{2A16848E-221D-4CDC-B3AB-33E2FC85B732}" type="presOf" srcId="{6581FB9E-DE47-451C-8094-4C82889A221D}" destId="{1C3F5DAC-DA18-4A70-983F-D292D8F72641}" srcOrd="1" destOrd="0" presId="urn:microsoft.com/office/officeart/2005/8/layout/process2"/>
    <dgm:cxn modelId="{8E5FA29C-3071-4211-B879-CF5CBA53C8F3}" type="presOf" srcId="{648AA080-9391-4613-AA42-6FF5AC3D9E75}" destId="{86949D38-2232-44BD-BC99-2553B8FD699E}" srcOrd="0" destOrd="0" presId="urn:microsoft.com/office/officeart/2005/8/layout/process2"/>
    <dgm:cxn modelId="{D7321B9E-C778-49E5-AFAE-3E35E9855905}" srcId="{2B072D63-A393-447C-8ACB-BDABC3CD07BB}" destId="{108FF57F-04F9-45C3-A4F4-4C49571A0078}" srcOrd="1" destOrd="0" parTransId="{C76A850C-9744-465B-906F-DE774AA06803}" sibTransId="{14EB67FE-98B4-4D95-87EE-A0B41ACE30FF}"/>
    <dgm:cxn modelId="{FE24BCA5-AC1E-478B-A264-123382229A03}" srcId="{2B072D63-A393-447C-8ACB-BDABC3CD07BB}" destId="{A3C8F497-82C7-4E20-8EBF-269EBA7650D4}" srcOrd="2" destOrd="0" parTransId="{957C6704-AB58-408A-8C59-ADB933E62563}" sibTransId="{A98845A2-8E33-4FF6-B77F-1527E5D3523B}"/>
    <dgm:cxn modelId="{DF1F9BAD-5BCD-4D52-8483-0BB1198903F3}" type="presOf" srcId="{14EB67FE-98B4-4D95-87EE-A0B41ACE30FF}" destId="{32227BE9-A56C-4B31-ABA5-72020F6E58F0}" srcOrd="1" destOrd="0" presId="urn:microsoft.com/office/officeart/2005/8/layout/process2"/>
    <dgm:cxn modelId="{D70711CD-5CE3-4A42-8312-AF2AED8FD642}" type="presOf" srcId="{108FF57F-04F9-45C3-A4F4-4C49571A0078}" destId="{884E9802-90C1-47FA-8E47-F14BF6F9E769}" srcOrd="0" destOrd="0" presId="urn:microsoft.com/office/officeart/2005/8/layout/process2"/>
    <dgm:cxn modelId="{69EF66DE-5ACB-4A2F-856E-DD3E3607B2DB}" type="presOf" srcId="{6581FB9E-DE47-451C-8094-4C82889A221D}" destId="{E95E76B7-7F53-4160-A8D2-E681D6202DC4}" srcOrd="0" destOrd="0" presId="urn:microsoft.com/office/officeart/2005/8/layout/process2"/>
    <dgm:cxn modelId="{369987E8-CD39-421C-804F-D3E090226AB4}" srcId="{2B072D63-A393-447C-8ACB-BDABC3CD07BB}" destId="{648AA080-9391-4613-AA42-6FF5AC3D9E75}" srcOrd="0" destOrd="0" parTransId="{90B78202-482B-4B7A-A310-FD0118459F3E}" sibTransId="{6581FB9E-DE47-451C-8094-4C82889A221D}"/>
    <dgm:cxn modelId="{198B3317-4851-480F-93A9-F03AA9184012}" type="presParOf" srcId="{DE408C29-3564-41AF-8FD6-DF8F1128F8A3}" destId="{86949D38-2232-44BD-BC99-2553B8FD699E}" srcOrd="0" destOrd="0" presId="urn:microsoft.com/office/officeart/2005/8/layout/process2"/>
    <dgm:cxn modelId="{C0190C6D-27F9-4D87-AF08-F47E8CDEA2AD}" type="presParOf" srcId="{DE408C29-3564-41AF-8FD6-DF8F1128F8A3}" destId="{E95E76B7-7F53-4160-A8D2-E681D6202DC4}" srcOrd="1" destOrd="0" presId="urn:microsoft.com/office/officeart/2005/8/layout/process2"/>
    <dgm:cxn modelId="{97B5158F-4A52-4CD9-9600-0EC916A2E610}" type="presParOf" srcId="{E95E76B7-7F53-4160-A8D2-E681D6202DC4}" destId="{1C3F5DAC-DA18-4A70-983F-D292D8F72641}" srcOrd="0" destOrd="0" presId="urn:microsoft.com/office/officeart/2005/8/layout/process2"/>
    <dgm:cxn modelId="{83D08234-64AD-4650-B1B3-95F9DADEB082}" type="presParOf" srcId="{DE408C29-3564-41AF-8FD6-DF8F1128F8A3}" destId="{884E9802-90C1-47FA-8E47-F14BF6F9E769}" srcOrd="2" destOrd="0" presId="urn:microsoft.com/office/officeart/2005/8/layout/process2"/>
    <dgm:cxn modelId="{1D4B37CE-FACC-496C-9D78-82ED5CA3A4E8}" type="presParOf" srcId="{DE408C29-3564-41AF-8FD6-DF8F1128F8A3}" destId="{F84AB14C-F220-4251-AC88-5BD8A3834DB8}" srcOrd="3" destOrd="0" presId="urn:microsoft.com/office/officeart/2005/8/layout/process2"/>
    <dgm:cxn modelId="{952A899C-EB30-4DBC-9C79-2B2EAB9FA2A5}" type="presParOf" srcId="{F84AB14C-F220-4251-AC88-5BD8A3834DB8}" destId="{32227BE9-A56C-4B31-ABA5-72020F6E58F0}" srcOrd="0" destOrd="0" presId="urn:microsoft.com/office/officeart/2005/8/layout/process2"/>
    <dgm:cxn modelId="{094CD0BF-1D32-4E49-BB2E-46332BFDD479}" type="presParOf" srcId="{DE408C29-3564-41AF-8FD6-DF8F1128F8A3}" destId="{422BDA06-E577-446C-ABAA-7B3FFF76BD9A}" srcOrd="4" destOrd="0" presId="urn:microsoft.com/office/officeart/2005/8/layout/process2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E5E34BA-7E56-46B8-894B-5097EDC6638C}" type="doc">
      <dgm:prSet loTypeId="urn:microsoft.com/office/officeart/2008/layout/RadialCluster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08BE1CE-42D6-46A3-8BA8-0614E319B209}">
      <dgm:prSet phldrT="[Text]"/>
      <dgm:spPr/>
      <dgm:t>
        <a:bodyPr/>
        <a:lstStyle/>
        <a:p>
          <a:r>
            <a:rPr lang="en-US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Marker Gene list</a:t>
          </a:r>
        </a:p>
      </dgm:t>
    </dgm:pt>
    <dgm:pt modelId="{FB1E8E9D-015E-4950-8205-DFAC3336FDA7}" type="parTrans" cxnId="{262529BA-8DCC-4FC0-8984-32027A7D7FA2}">
      <dgm:prSet/>
      <dgm:spPr/>
      <dgm:t>
        <a:bodyPr/>
        <a:lstStyle/>
        <a:p>
          <a:endParaRPr lang="en-US"/>
        </a:p>
      </dgm:t>
    </dgm:pt>
    <dgm:pt modelId="{03BD12E9-E642-43A8-9372-F44EBB99EEA7}" type="sibTrans" cxnId="{262529BA-8DCC-4FC0-8984-32027A7D7FA2}">
      <dgm:prSet/>
      <dgm:spPr/>
      <dgm:t>
        <a:bodyPr/>
        <a:lstStyle/>
        <a:p>
          <a:endParaRPr lang="en-US"/>
        </a:p>
      </dgm:t>
    </dgm:pt>
    <dgm:pt modelId="{D4FB0F36-C024-4656-B072-CEAEAE6DB27F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Bins</a:t>
          </a:r>
          <a:endParaRPr lang="en-US" dirty="0"/>
        </a:p>
      </dgm:t>
    </dgm:pt>
    <dgm:pt modelId="{5FF2FA0A-4A8F-48D1-A4DD-AA8701B4480B}" type="parTrans" cxnId="{77D88C49-0EFE-40D5-A333-CB06C92D8395}">
      <dgm:prSet/>
      <dgm:spPr/>
      <dgm:t>
        <a:bodyPr/>
        <a:lstStyle/>
        <a:p>
          <a:endParaRPr lang="en-US"/>
        </a:p>
      </dgm:t>
    </dgm:pt>
    <dgm:pt modelId="{70A2950F-D1E8-48BC-AF2D-E74B1D7162AA}" type="sibTrans" cxnId="{77D88C49-0EFE-40D5-A333-CB06C92D8395}">
      <dgm:prSet/>
      <dgm:spPr/>
      <dgm:t>
        <a:bodyPr/>
        <a:lstStyle/>
        <a:p>
          <a:endParaRPr lang="en-US"/>
        </a:p>
      </dgm:t>
    </dgm:pt>
    <dgm:pt modelId="{E498E6F3-1D00-4AED-832D-0CB2FAB1E9D6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Contamination</a:t>
          </a:r>
        </a:p>
      </dgm:t>
    </dgm:pt>
    <dgm:pt modelId="{DF109736-633B-46E8-B366-E24BF1C78518}" type="parTrans" cxnId="{D7D50141-033D-4014-BD72-4594207F5EE7}">
      <dgm:prSet/>
      <dgm:spPr/>
      <dgm:t>
        <a:bodyPr/>
        <a:lstStyle/>
        <a:p>
          <a:endParaRPr lang="en-US"/>
        </a:p>
      </dgm:t>
    </dgm:pt>
    <dgm:pt modelId="{A9423779-2860-4BFD-ABC0-9C534873BEB5}" type="sibTrans" cxnId="{D7D50141-033D-4014-BD72-4594207F5EE7}">
      <dgm:prSet/>
      <dgm:spPr/>
      <dgm:t>
        <a:bodyPr/>
        <a:lstStyle/>
        <a:p>
          <a:endParaRPr lang="en-US"/>
        </a:p>
      </dgm:t>
    </dgm:pt>
    <dgm:pt modelId="{B9C28BA6-89A3-4CA9-B9DF-55D58101009B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Completeness</a:t>
          </a:r>
          <a:endParaRPr lang="en-US" dirty="0"/>
        </a:p>
      </dgm:t>
    </dgm:pt>
    <dgm:pt modelId="{C8F1DE61-1B98-4023-9F11-9946B3E9083C}" type="parTrans" cxnId="{D5720797-C914-4022-B014-E4096E13C6F3}">
      <dgm:prSet/>
      <dgm:spPr/>
      <dgm:t>
        <a:bodyPr/>
        <a:lstStyle/>
        <a:p>
          <a:endParaRPr lang="en-US"/>
        </a:p>
      </dgm:t>
    </dgm:pt>
    <dgm:pt modelId="{47970459-E6E4-421B-8E21-10C34F14A9C3}" type="sibTrans" cxnId="{D5720797-C914-4022-B014-E4096E13C6F3}">
      <dgm:prSet/>
      <dgm:spPr/>
      <dgm:t>
        <a:bodyPr/>
        <a:lstStyle/>
        <a:p>
          <a:endParaRPr lang="en-US"/>
        </a:p>
      </dgm:t>
    </dgm:pt>
    <dgm:pt modelId="{CB94DC8C-CCD4-4E5A-92FC-61DA473F703A}" type="pres">
      <dgm:prSet presAssocID="{CE5E34BA-7E56-46B8-894B-5097EDC6638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CEE3DD0C-2409-46D0-9C6A-B150C658581C}" type="pres">
      <dgm:prSet presAssocID="{308BE1CE-42D6-46A3-8BA8-0614E319B209}" presName="singleCycle" presStyleCnt="0"/>
      <dgm:spPr/>
    </dgm:pt>
    <dgm:pt modelId="{C157F76C-6631-497F-81F3-8493E453A15F}" type="pres">
      <dgm:prSet presAssocID="{308BE1CE-42D6-46A3-8BA8-0614E319B209}" presName="singleCenter" presStyleLbl="node1" presStyleIdx="0" presStyleCnt="4" custScaleX="213356" custScaleY="56785" custLinFactNeighborX="6" custLinFactNeighborY="-22528">
        <dgm:presLayoutVars>
          <dgm:chMax val="7"/>
          <dgm:chPref val="7"/>
        </dgm:presLayoutVars>
      </dgm:prSet>
      <dgm:spPr/>
    </dgm:pt>
    <dgm:pt modelId="{26E8B77B-5C61-4A48-8686-0D025346F5C6}" type="pres">
      <dgm:prSet presAssocID="{5FF2FA0A-4A8F-48D1-A4DD-AA8701B4480B}" presName="Name56" presStyleLbl="parChTrans1D2" presStyleIdx="0" presStyleCnt="3"/>
      <dgm:spPr/>
    </dgm:pt>
    <dgm:pt modelId="{2707D2AE-7F57-4A17-8FFC-B2AB20290D70}" type="pres">
      <dgm:prSet presAssocID="{D4FB0F36-C024-4656-B072-CEAEAE6DB27F}" presName="text0" presStyleLbl="node1" presStyleIdx="1" presStyleCnt="4" custScaleY="60222">
        <dgm:presLayoutVars>
          <dgm:bulletEnabled val="1"/>
        </dgm:presLayoutVars>
      </dgm:prSet>
      <dgm:spPr/>
    </dgm:pt>
    <dgm:pt modelId="{54028BA6-8762-4B97-A668-63ADEAAD9F32}" type="pres">
      <dgm:prSet presAssocID="{DF109736-633B-46E8-B366-E24BF1C78518}" presName="Name56" presStyleLbl="parChTrans1D2" presStyleIdx="1" presStyleCnt="3"/>
      <dgm:spPr/>
    </dgm:pt>
    <dgm:pt modelId="{59942506-04FE-4A50-9A1E-27E6C4B86658}" type="pres">
      <dgm:prSet presAssocID="{E498E6F3-1D00-4AED-832D-0CB2FAB1E9D6}" presName="text0" presStyleLbl="node1" presStyleIdx="2" presStyleCnt="4" custScaleX="258715" custRadScaleRad="111266" custRadScaleInc="-34224">
        <dgm:presLayoutVars>
          <dgm:bulletEnabled val="1"/>
        </dgm:presLayoutVars>
      </dgm:prSet>
      <dgm:spPr/>
    </dgm:pt>
    <dgm:pt modelId="{C01C7588-9FCE-4B59-8BA0-5299B9363B18}" type="pres">
      <dgm:prSet presAssocID="{C8F1DE61-1B98-4023-9F11-9946B3E9083C}" presName="Name56" presStyleLbl="parChTrans1D2" presStyleIdx="2" presStyleCnt="3"/>
      <dgm:spPr/>
    </dgm:pt>
    <dgm:pt modelId="{6786B351-479A-4003-BDF0-9A57463F0999}" type="pres">
      <dgm:prSet presAssocID="{B9C28BA6-89A3-4CA9-B9DF-55D58101009B}" presName="text0" presStyleLbl="node1" presStyleIdx="3" presStyleCnt="4" custScaleX="258715" custRadScaleRad="102384" custRadScaleInc="32900">
        <dgm:presLayoutVars>
          <dgm:bulletEnabled val="1"/>
        </dgm:presLayoutVars>
      </dgm:prSet>
      <dgm:spPr/>
    </dgm:pt>
  </dgm:ptLst>
  <dgm:cxnLst>
    <dgm:cxn modelId="{D9DB162A-FBA1-4087-9032-93991E387AED}" type="presOf" srcId="{C8F1DE61-1B98-4023-9F11-9946B3E9083C}" destId="{C01C7588-9FCE-4B59-8BA0-5299B9363B18}" srcOrd="0" destOrd="0" presId="urn:microsoft.com/office/officeart/2008/layout/RadialCluster"/>
    <dgm:cxn modelId="{D7D50141-033D-4014-BD72-4594207F5EE7}" srcId="{308BE1CE-42D6-46A3-8BA8-0614E319B209}" destId="{E498E6F3-1D00-4AED-832D-0CB2FAB1E9D6}" srcOrd="1" destOrd="0" parTransId="{DF109736-633B-46E8-B366-E24BF1C78518}" sibTransId="{A9423779-2860-4BFD-ABC0-9C534873BEB5}"/>
    <dgm:cxn modelId="{77D88C49-0EFE-40D5-A333-CB06C92D8395}" srcId="{308BE1CE-42D6-46A3-8BA8-0614E319B209}" destId="{D4FB0F36-C024-4656-B072-CEAEAE6DB27F}" srcOrd="0" destOrd="0" parTransId="{5FF2FA0A-4A8F-48D1-A4DD-AA8701B4480B}" sibTransId="{70A2950F-D1E8-48BC-AF2D-E74B1D7162AA}"/>
    <dgm:cxn modelId="{06D0C07D-E482-4EF2-9B9C-16937D465DAF}" type="presOf" srcId="{5FF2FA0A-4A8F-48D1-A4DD-AA8701B4480B}" destId="{26E8B77B-5C61-4A48-8686-0D025346F5C6}" srcOrd="0" destOrd="0" presId="urn:microsoft.com/office/officeart/2008/layout/RadialCluster"/>
    <dgm:cxn modelId="{A000417F-8385-4884-8ED7-6B3CCDD49F6A}" type="presOf" srcId="{E498E6F3-1D00-4AED-832D-0CB2FAB1E9D6}" destId="{59942506-04FE-4A50-9A1E-27E6C4B86658}" srcOrd="0" destOrd="0" presId="urn:microsoft.com/office/officeart/2008/layout/RadialCluster"/>
    <dgm:cxn modelId="{9E038789-D5F2-4FD8-934F-93BDFED1E812}" type="presOf" srcId="{D4FB0F36-C024-4656-B072-CEAEAE6DB27F}" destId="{2707D2AE-7F57-4A17-8FFC-B2AB20290D70}" srcOrd="0" destOrd="0" presId="urn:microsoft.com/office/officeart/2008/layout/RadialCluster"/>
    <dgm:cxn modelId="{DCEB2D90-EF16-4083-97F8-B45207C7F3E9}" type="presOf" srcId="{308BE1CE-42D6-46A3-8BA8-0614E319B209}" destId="{C157F76C-6631-497F-81F3-8493E453A15F}" srcOrd="0" destOrd="0" presId="urn:microsoft.com/office/officeart/2008/layout/RadialCluster"/>
    <dgm:cxn modelId="{D5720797-C914-4022-B014-E4096E13C6F3}" srcId="{308BE1CE-42D6-46A3-8BA8-0614E319B209}" destId="{B9C28BA6-89A3-4CA9-B9DF-55D58101009B}" srcOrd="2" destOrd="0" parTransId="{C8F1DE61-1B98-4023-9F11-9946B3E9083C}" sibTransId="{47970459-E6E4-421B-8E21-10C34F14A9C3}"/>
    <dgm:cxn modelId="{114B5EB0-0150-4159-A3B8-BABDD0AF333A}" type="presOf" srcId="{DF109736-633B-46E8-B366-E24BF1C78518}" destId="{54028BA6-8762-4B97-A668-63ADEAAD9F32}" srcOrd="0" destOrd="0" presId="urn:microsoft.com/office/officeart/2008/layout/RadialCluster"/>
    <dgm:cxn modelId="{262529BA-8DCC-4FC0-8984-32027A7D7FA2}" srcId="{CE5E34BA-7E56-46B8-894B-5097EDC6638C}" destId="{308BE1CE-42D6-46A3-8BA8-0614E319B209}" srcOrd="0" destOrd="0" parTransId="{FB1E8E9D-015E-4950-8205-DFAC3336FDA7}" sibTransId="{03BD12E9-E642-43A8-9372-F44EBB99EEA7}"/>
    <dgm:cxn modelId="{5EAABEC6-6A56-4516-B777-4422DDF8EEA1}" type="presOf" srcId="{B9C28BA6-89A3-4CA9-B9DF-55D58101009B}" destId="{6786B351-479A-4003-BDF0-9A57463F0999}" srcOrd="0" destOrd="0" presId="urn:microsoft.com/office/officeart/2008/layout/RadialCluster"/>
    <dgm:cxn modelId="{B6AAB0FC-B90A-43AC-9AD2-8F5857756A46}" type="presOf" srcId="{CE5E34BA-7E56-46B8-894B-5097EDC6638C}" destId="{CB94DC8C-CCD4-4E5A-92FC-61DA473F703A}" srcOrd="0" destOrd="0" presId="urn:microsoft.com/office/officeart/2008/layout/RadialCluster"/>
    <dgm:cxn modelId="{34479456-9320-4854-A3EB-7C9BD70CED76}" type="presParOf" srcId="{CB94DC8C-CCD4-4E5A-92FC-61DA473F703A}" destId="{CEE3DD0C-2409-46D0-9C6A-B150C658581C}" srcOrd="0" destOrd="0" presId="urn:microsoft.com/office/officeart/2008/layout/RadialCluster"/>
    <dgm:cxn modelId="{EB9D52E2-C57D-445C-80C4-2E3D612A5EC4}" type="presParOf" srcId="{CEE3DD0C-2409-46D0-9C6A-B150C658581C}" destId="{C157F76C-6631-497F-81F3-8493E453A15F}" srcOrd="0" destOrd="0" presId="urn:microsoft.com/office/officeart/2008/layout/RadialCluster"/>
    <dgm:cxn modelId="{BF1C2EE9-4F50-45EB-B7CA-ED5D9398D166}" type="presParOf" srcId="{CEE3DD0C-2409-46D0-9C6A-B150C658581C}" destId="{26E8B77B-5C61-4A48-8686-0D025346F5C6}" srcOrd="1" destOrd="0" presId="urn:microsoft.com/office/officeart/2008/layout/RadialCluster"/>
    <dgm:cxn modelId="{48C94A88-DDFA-43DC-AB76-EC768E012781}" type="presParOf" srcId="{CEE3DD0C-2409-46D0-9C6A-B150C658581C}" destId="{2707D2AE-7F57-4A17-8FFC-B2AB20290D70}" srcOrd="2" destOrd="0" presId="urn:microsoft.com/office/officeart/2008/layout/RadialCluster"/>
    <dgm:cxn modelId="{6DC90A00-E60C-4B85-B4F8-2E1DE9AEC4B1}" type="presParOf" srcId="{CEE3DD0C-2409-46D0-9C6A-B150C658581C}" destId="{54028BA6-8762-4B97-A668-63ADEAAD9F32}" srcOrd="3" destOrd="0" presId="urn:microsoft.com/office/officeart/2008/layout/RadialCluster"/>
    <dgm:cxn modelId="{3C4BE245-BEC7-4F72-A8BD-E7B396346F09}" type="presParOf" srcId="{CEE3DD0C-2409-46D0-9C6A-B150C658581C}" destId="{59942506-04FE-4A50-9A1E-27E6C4B86658}" srcOrd="4" destOrd="0" presId="urn:microsoft.com/office/officeart/2008/layout/RadialCluster"/>
    <dgm:cxn modelId="{6CFF56B3-F24D-4E27-A7F0-F5F69F090A0B}" type="presParOf" srcId="{CEE3DD0C-2409-46D0-9C6A-B150C658581C}" destId="{C01C7588-9FCE-4B59-8BA0-5299B9363B18}" srcOrd="5" destOrd="0" presId="urn:microsoft.com/office/officeart/2008/layout/RadialCluster"/>
    <dgm:cxn modelId="{75F4A795-18A2-4603-9C8B-C8B7E79FDC3A}" type="presParOf" srcId="{CEE3DD0C-2409-46D0-9C6A-B150C658581C}" destId="{6786B351-479A-4003-BDF0-9A57463F0999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A3C68F-70BE-4C1B-BC2B-F513B4535048}">
      <dsp:nvSpPr>
        <dsp:cNvPr id="0" name=""/>
        <dsp:cNvSpPr/>
      </dsp:nvSpPr>
      <dsp:spPr>
        <a:xfrm>
          <a:off x="1371601" y="757832"/>
          <a:ext cx="2327351" cy="1887934"/>
        </a:xfrm>
        <a:prstGeom prst="ellipse">
          <a:avLst/>
        </a:prstGeom>
        <a:solidFill>
          <a:schemeClr val="bg2">
            <a:lumMod val="40000"/>
            <a:lumOff val="6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(Meta)genomics</a:t>
          </a:r>
        </a:p>
      </dsp:txBody>
      <dsp:txXfrm>
        <a:off x="1712434" y="1034314"/>
        <a:ext cx="1645685" cy="1334970"/>
      </dsp:txXfrm>
    </dsp:sp>
    <dsp:sp modelId="{0929EE7E-F533-4513-8534-1440B85AB3EC}">
      <dsp:nvSpPr>
        <dsp:cNvPr id="0" name=""/>
        <dsp:cNvSpPr/>
      </dsp:nvSpPr>
      <dsp:spPr>
        <a:xfrm>
          <a:off x="1565350" y="336"/>
          <a:ext cx="1939852" cy="943967"/>
        </a:xfrm>
        <a:prstGeom prst="ellipse">
          <a:avLst/>
        </a:prstGeom>
        <a:solidFill>
          <a:srgbClr val="92D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Identification of novel metabolic pathways</a:t>
          </a:r>
        </a:p>
      </dsp:txBody>
      <dsp:txXfrm>
        <a:off x="1849435" y="138577"/>
        <a:ext cx="1371682" cy="667485"/>
      </dsp:txXfrm>
    </dsp:sp>
    <dsp:sp modelId="{D105529A-B6FA-4140-9251-112D461FA81E}">
      <dsp:nvSpPr>
        <dsp:cNvPr id="0" name=""/>
        <dsp:cNvSpPr/>
      </dsp:nvSpPr>
      <dsp:spPr>
        <a:xfrm>
          <a:off x="3581405" y="1229816"/>
          <a:ext cx="1344530" cy="943967"/>
        </a:xfrm>
        <a:prstGeom prst="ellipse">
          <a:avLst/>
        </a:prstGeom>
        <a:solidFill>
          <a:srgbClr val="FFCC66">
            <a:alpha val="49804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Horizontal gene transfer</a:t>
          </a:r>
        </a:p>
      </dsp:txBody>
      <dsp:txXfrm>
        <a:off x="3778307" y="1368057"/>
        <a:ext cx="950726" cy="667485"/>
      </dsp:txXfrm>
    </dsp:sp>
    <dsp:sp modelId="{D2010696-B7A8-4A66-8561-C10E89E201F3}">
      <dsp:nvSpPr>
        <dsp:cNvPr id="0" name=""/>
        <dsp:cNvSpPr/>
      </dsp:nvSpPr>
      <dsp:spPr>
        <a:xfrm>
          <a:off x="1641552" y="2459295"/>
          <a:ext cx="1787449" cy="943967"/>
        </a:xfrm>
        <a:prstGeom prst="ellipse">
          <a:avLst/>
        </a:prstGeom>
        <a:solidFill>
          <a:srgbClr val="FF66FF">
            <a:alpha val="49804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Community characterization / Diversity analysis</a:t>
          </a:r>
        </a:p>
      </dsp:txBody>
      <dsp:txXfrm>
        <a:off x="1903318" y="2597536"/>
        <a:ext cx="1263917" cy="667485"/>
      </dsp:txXfrm>
    </dsp:sp>
    <dsp:sp modelId="{44124051-EBDD-431F-971D-EA5A47479AB5}">
      <dsp:nvSpPr>
        <dsp:cNvPr id="0" name=""/>
        <dsp:cNvSpPr/>
      </dsp:nvSpPr>
      <dsp:spPr>
        <a:xfrm>
          <a:off x="228593" y="1229816"/>
          <a:ext cx="1274837" cy="943967"/>
        </a:xfrm>
        <a:prstGeom prst="ellipse">
          <a:avLst/>
        </a:prstGeom>
        <a:solidFill>
          <a:schemeClr val="accent2">
            <a:lumMod val="40000"/>
            <a:lumOff val="6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Identification of novel species</a:t>
          </a:r>
        </a:p>
      </dsp:txBody>
      <dsp:txXfrm>
        <a:off x="415289" y="1368057"/>
        <a:ext cx="901445" cy="6674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949D38-2232-44BD-BC99-2553B8FD699E}">
      <dsp:nvSpPr>
        <dsp:cNvPr id="0" name=""/>
        <dsp:cNvSpPr/>
      </dsp:nvSpPr>
      <dsp:spPr>
        <a:xfrm>
          <a:off x="0" y="3471"/>
          <a:ext cx="1658327" cy="645330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>
              <a:solidFill>
                <a:schemeClr val="tx1"/>
              </a:solidFill>
            </a:rPr>
            <a:t>Quality </a:t>
          </a:r>
          <a:r>
            <a:rPr lang="de-DE" sz="1900" kern="1200" dirty="0" err="1">
              <a:solidFill>
                <a:schemeClr val="tx1"/>
              </a:solidFill>
            </a:rPr>
            <a:t>control</a:t>
          </a:r>
          <a:endParaRPr lang="de-DE" sz="1900" kern="1200" dirty="0">
            <a:solidFill>
              <a:schemeClr val="tx1"/>
            </a:solidFill>
          </a:endParaRPr>
        </a:p>
      </dsp:txBody>
      <dsp:txXfrm>
        <a:off x="18901" y="22372"/>
        <a:ext cx="1620525" cy="607528"/>
      </dsp:txXfrm>
    </dsp:sp>
    <dsp:sp modelId="{E95E76B7-7F53-4160-A8D2-E681D6202DC4}">
      <dsp:nvSpPr>
        <dsp:cNvPr id="0" name=""/>
        <dsp:cNvSpPr/>
      </dsp:nvSpPr>
      <dsp:spPr>
        <a:xfrm rot="5400000">
          <a:off x="730591" y="635031"/>
          <a:ext cx="197144" cy="2903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900" kern="1200"/>
        </a:p>
      </dsp:txBody>
      <dsp:txXfrm rot="-5400000">
        <a:off x="742045" y="681658"/>
        <a:ext cx="174238" cy="138001"/>
      </dsp:txXfrm>
    </dsp:sp>
    <dsp:sp modelId="{884E9802-90C1-47FA-8E47-F14BF6F9E769}">
      <dsp:nvSpPr>
        <dsp:cNvPr id="0" name=""/>
        <dsp:cNvSpPr/>
      </dsp:nvSpPr>
      <dsp:spPr>
        <a:xfrm>
          <a:off x="0" y="911660"/>
          <a:ext cx="1658327" cy="645330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>
              <a:solidFill>
                <a:schemeClr val="tx1"/>
              </a:solidFill>
            </a:rPr>
            <a:t>Assembly</a:t>
          </a:r>
          <a:r>
            <a:rPr lang="de-DE" sz="1900" kern="1200" dirty="0">
              <a:solidFill>
                <a:schemeClr val="tx1"/>
              </a:solidFill>
            </a:rPr>
            <a:t>/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>
              <a:solidFill>
                <a:schemeClr val="tx1"/>
              </a:solidFill>
            </a:rPr>
            <a:t>Binning</a:t>
          </a:r>
          <a:endParaRPr lang="de-DE" sz="1900" kern="1200" dirty="0">
            <a:solidFill>
              <a:schemeClr val="tx1"/>
            </a:solidFill>
          </a:endParaRPr>
        </a:p>
      </dsp:txBody>
      <dsp:txXfrm>
        <a:off x="18901" y="930561"/>
        <a:ext cx="1620525" cy="607528"/>
      </dsp:txXfrm>
    </dsp:sp>
    <dsp:sp modelId="{F84AB14C-F220-4251-AC88-5BD8A3834DB8}">
      <dsp:nvSpPr>
        <dsp:cNvPr id="0" name=""/>
        <dsp:cNvSpPr/>
      </dsp:nvSpPr>
      <dsp:spPr>
        <a:xfrm rot="5400000">
          <a:off x="685736" y="1603027"/>
          <a:ext cx="286853" cy="2903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900" kern="1200"/>
        </a:p>
      </dsp:txBody>
      <dsp:txXfrm rot="-5400000">
        <a:off x="742043" y="1604800"/>
        <a:ext cx="174238" cy="200797"/>
      </dsp:txXfrm>
    </dsp:sp>
    <dsp:sp modelId="{422BDA06-E577-446C-ABAA-7B3FFF76BD9A}">
      <dsp:nvSpPr>
        <dsp:cNvPr id="0" name=""/>
        <dsp:cNvSpPr/>
      </dsp:nvSpPr>
      <dsp:spPr>
        <a:xfrm>
          <a:off x="0" y="1939462"/>
          <a:ext cx="1658327" cy="645330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>
              <a:solidFill>
                <a:schemeClr val="tx1"/>
              </a:solidFill>
            </a:rPr>
            <a:t>Annotation</a:t>
          </a:r>
        </a:p>
      </dsp:txBody>
      <dsp:txXfrm>
        <a:off x="18901" y="1958363"/>
        <a:ext cx="1620525" cy="607528"/>
      </dsp:txXfrm>
    </dsp:sp>
    <dsp:sp modelId="{54C3DBC0-C7D1-4EDC-BA81-DA8E1703AA08}">
      <dsp:nvSpPr>
        <dsp:cNvPr id="0" name=""/>
        <dsp:cNvSpPr/>
      </dsp:nvSpPr>
      <dsp:spPr>
        <a:xfrm rot="5400000">
          <a:off x="708164" y="2600926"/>
          <a:ext cx="241998" cy="2903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900" kern="1200"/>
        </a:p>
      </dsp:txBody>
      <dsp:txXfrm rot="-5400000">
        <a:off x="742045" y="2625126"/>
        <a:ext cx="174238" cy="169399"/>
      </dsp:txXfrm>
    </dsp:sp>
    <dsp:sp modelId="{1ABA719E-0C94-456F-9DD7-20FC6A63B358}">
      <dsp:nvSpPr>
        <dsp:cNvPr id="0" name=""/>
        <dsp:cNvSpPr/>
      </dsp:nvSpPr>
      <dsp:spPr>
        <a:xfrm>
          <a:off x="0" y="2907458"/>
          <a:ext cx="1658327" cy="645330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>
              <a:solidFill>
                <a:schemeClr val="tx1"/>
              </a:solidFill>
            </a:rPr>
            <a:t>Visualization</a:t>
          </a:r>
          <a:r>
            <a:rPr lang="de-DE" sz="1900" kern="1200" dirty="0">
              <a:solidFill>
                <a:schemeClr val="tx1"/>
              </a:solidFill>
            </a:rPr>
            <a:t> </a:t>
          </a:r>
          <a:r>
            <a:rPr lang="de-DE" sz="1900" kern="1200" dirty="0" err="1">
              <a:solidFill>
                <a:schemeClr val="tx1"/>
              </a:solidFill>
            </a:rPr>
            <a:t>Statistics</a:t>
          </a:r>
          <a:endParaRPr lang="de-DE" sz="1900" kern="1200" dirty="0">
            <a:solidFill>
              <a:schemeClr val="tx1"/>
            </a:solidFill>
          </a:endParaRPr>
        </a:p>
      </dsp:txBody>
      <dsp:txXfrm>
        <a:off x="18901" y="2926359"/>
        <a:ext cx="1620525" cy="6075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949D38-2232-44BD-BC99-2553B8FD699E}">
      <dsp:nvSpPr>
        <dsp:cNvPr id="0" name=""/>
        <dsp:cNvSpPr/>
      </dsp:nvSpPr>
      <dsp:spPr>
        <a:xfrm>
          <a:off x="0" y="0"/>
          <a:ext cx="1470036" cy="901914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solidFill>
                <a:schemeClr val="tx1"/>
              </a:solidFill>
            </a:rPr>
            <a:t>DNA </a:t>
          </a:r>
          <a:r>
            <a:rPr lang="de-DE" sz="1800" kern="1200" dirty="0" err="1">
              <a:solidFill>
                <a:schemeClr val="tx1"/>
              </a:solidFill>
            </a:rPr>
            <a:t>extraction</a:t>
          </a:r>
          <a:endParaRPr lang="de-DE" sz="1800" kern="1200" dirty="0">
            <a:solidFill>
              <a:schemeClr val="tx1"/>
            </a:solidFill>
          </a:endParaRPr>
        </a:p>
      </dsp:txBody>
      <dsp:txXfrm>
        <a:off x="26416" y="26416"/>
        <a:ext cx="1417204" cy="849082"/>
      </dsp:txXfrm>
    </dsp:sp>
    <dsp:sp modelId="{E95E76B7-7F53-4160-A8D2-E681D6202DC4}">
      <dsp:nvSpPr>
        <dsp:cNvPr id="0" name=""/>
        <dsp:cNvSpPr/>
      </dsp:nvSpPr>
      <dsp:spPr>
        <a:xfrm rot="5400000">
          <a:off x="597253" y="882670"/>
          <a:ext cx="275529" cy="4058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800" kern="1200">
            <a:solidFill>
              <a:schemeClr val="tx1"/>
            </a:solidFill>
          </a:endParaRPr>
        </a:p>
      </dsp:txBody>
      <dsp:txXfrm rot="-5400000">
        <a:off x="613260" y="947836"/>
        <a:ext cx="243517" cy="192870"/>
      </dsp:txXfrm>
    </dsp:sp>
    <dsp:sp modelId="{884E9802-90C1-47FA-8E47-F14BF6F9E769}">
      <dsp:nvSpPr>
        <dsp:cNvPr id="0" name=""/>
        <dsp:cNvSpPr/>
      </dsp:nvSpPr>
      <dsp:spPr>
        <a:xfrm>
          <a:off x="0" y="1269287"/>
          <a:ext cx="1470036" cy="901914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 err="1">
              <a:solidFill>
                <a:schemeClr val="tx1"/>
              </a:solidFill>
            </a:rPr>
            <a:t>Fragmentation</a:t>
          </a:r>
          <a:endParaRPr lang="de-DE" sz="1400" kern="1200" dirty="0">
            <a:solidFill>
              <a:schemeClr val="tx1"/>
            </a:solidFill>
          </a:endParaRPr>
        </a:p>
      </dsp:txBody>
      <dsp:txXfrm>
        <a:off x="26416" y="1295703"/>
        <a:ext cx="1417204" cy="849082"/>
      </dsp:txXfrm>
    </dsp:sp>
    <dsp:sp modelId="{F84AB14C-F220-4251-AC88-5BD8A3834DB8}">
      <dsp:nvSpPr>
        <dsp:cNvPr id="0" name=""/>
        <dsp:cNvSpPr/>
      </dsp:nvSpPr>
      <dsp:spPr>
        <a:xfrm rot="16200000" flipH="1">
          <a:off x="596163" y="2235542"/>
          <a:ext cx="277708" cy="4058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800" kern="1200">
            <a:solidFill>
              <a:schemeClr val="tx1"/>
            </a:solidFill>
          </a:endParaRPr>
        </a:p>
      </dsp:txBody>
      <dsp:txXfrm rot="-5400000">
        <a:off x="613259" y="2299618"/>
        <a:ext cx="243517" cy="194396"/>
      </dsp:txXfrm>
    </dsp:sp>
    <dsp:sp modelId="{422BDA06-E577-446C-ABAA-7B3FFF76BD9A}">
      <dsp:nvSpPr>
        <dsp:cNvPr id="0" name=""/>
        <dsp:cNvSpPr/>
      </dsp:nvSpPr>
      <dsp:spPr>
        <a:xfrm>
          <a:off x="0" y="2705744"/>
          <a:ext cx="1470036" cy="901914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 err="1">
              <a:solidFill>
                <a:schemeClr val="tx1"/>
              </a:solidFill>
            </a:rPr>
            <a:t>Sequencing</a:t>
          </a:r>
          <a:endParaRPr lang="de-DE" sz="1800" kern="1200" dirty="0">
            <a:solidFill>
              <a:schemeClr val="tx1"/>
            </a:solidFill>
          </a:endParaRPr>
        </a:p>
      </dsp:txBody>
      <dsp:txXfrm>
        <a:off x="26416" y="2732160"/>
        <a:ext cx="1417204" cy="8490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949D38-2232-44BD-BC99-2553B8FD699E}">
      <dsp:nvSpPr>
        <dsp:cNvPr id="0" name=""/>
        <dsp:cNvSpPr/>
      </dsp:nvSpPr>
      <dsp:spPr>
        <a:xfrm>
          <a:off x="0" y="0"/>
          <a:ext cx="1470036" cy="901914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solidFill>
                <a:schemeClr val="tx1"/>
              </a:solidFill>
            </a:rPr>
            <a:t>DNA </a:t>
          </a:r>
          <a:r>
            <a:rPr lang="de-DE" sz="1800" kern="1200" dirty="0" err="1">
              <a:solidFill>
                <a:schemeClr val="tx1"/>
              </a:solidFill>
            </a:rPr>
            <a:t>extraction</a:t>
          </a:r>
          <a:endParaRPr lang="de-DE" sz="1800" kern="1200" dirty="0">
            <a:solidFill>
              <a:schemeClr val="tx1"/>
            </a:solidFill>
          </a:endParaRPr>
        </a:p>
      </dsp:txBody>
      <dsp:txXfrm>
        <a:off x="26416" y="26416"/>
        <a:ext cx="1417204" cy="849082"/>
      </dsp:txXfrm>
    </dsp:sp>
    <dsp:sp modelId="{E95E76B7-7F53-4160-A8D2-E681D6202DC4}">
      <dsp:nvSpPr>
        <dsp:cNvPr id="0" name=""/>
        <dsp:cNvSpPr/>
      </dsp:nvSpPr>
      <dsp:spPr>
        <a:xfrm rot="5400000">
          <a:off x="597253" y="882670"/>
          <a:ext cx="275529" cy="4058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800" kern="1200">
            <a:solidFill>
              <a:schemeClr val="tx1"/>
            </a:solidFill>
          </a:endParaRPr>
        </a:p>
      </dsp:txBody>
      <dsp:txXfrm rot="-5400000">
        <a:off x="613260" y="947836"/>
        <a:ext cx="243517" cy="192870"/>
      </dsp:txXfrm>
    </dsp:sp>
    <dsp:sp modelId="{884E9802-90C1-47FA-8E47-F14BF6F9E769}">
      <dsp:nvSpPr>
        <dsp:cNvPr id="0" name=""/>
        <dsp:cNvSpPr/>
      </dsp:nvSpPr>
      <dsp:spPr>
        <a:xfrm>
          <a:off x="0" y="1269287"/>
          <a:ext cx="1470036" cy="901914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 err="1">
              <a:solidFill>
                <a:schemeClr val="tx1"/>
              </a:solidFill>
            </a:rPr>
            <a:t>Fragmentation</a:t>
          </a:r>
          <a:endParaRPr lang="de-DE" sz="1400" kern="1200" dirty="0">
            <a:solidFill>
              <a:schemeClr val="tx1"/>
            </a:solidFill>
          </a:endParaRPr>
        </a:p>
      </dsp:txBody>
      <dsp:txXfrm>
        <a:off x="26416" y="1295703"/>
        <a:ext cx="1417204" cy="849082"/>
      </dsp:txXfrm>
    </dsp:sp>
    <dsp:sp modelId="{F84AB14C-F220-4251-AC88-5BD8A3834DB8}">
      <dsp:nvSpPr>
        <dsp:cNvPr id="0" name=""/>
        <dsp:cNvSpPr/>
      </dsp:nvSpPr>
      <dsp:spPr>
        <a:xfrm rot="16200000" flipH="1">
          <a:off x="596163" y="2235542"/>
          <a:ext cx="277708" cy="4058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800" kern="1200">
            <a:solidFill>
              <a:schemeClr val="tx1"/>
            </a:solidFill>
          </a:endParaRPr>
        </a:p>
      </dsp:txBody>
      <dsp:txXfrm rot="-5400000">
        <a:off x="613259" y="2299618"/>
        <a:ext cx="243517" cy="194396"/>
      </dsp:txXfrm>
    </dsp:sp>
    <dsp:sp modelId="{422BDA06-E577-446C-ABAA-7B3FFF76BD9A}">
      <dsp:nvSpPr>
        <dsp:cNvPr id="0" name=""/>
        <dsp:cNvSpPr/>
      </dsp:nvSpPr>
      <dsp:spPr>
        <a:xfrm>
          <a:off x="0" y="2705744"/>
          <a:ext cx="1470036" cy="901914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 err="1">
              <a:solidFill>
                <a:schemeClr val="tx1"/>
              </a:solidFill>
            </a:rPr>
            <a:t>Sequencing</a:t>
          </a:r>
          <a:endParaRPr lang="de-DE" sz="1800" kern="1200" dirty="0">
            <a:solidFill>
              <a:schemeClr val="tx1"/>
            </a:solidFill>
          </a:endParaRPr>
        </a:p>
      </dsp:txBody>
      <dsp:txXfrm>
        <a:off x="26416" y="2732160"/>
        <a:ext cx="1417204" cy="8490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7F76C-6631-497F-81F3-8493E453A15F}">
      <dsp:nvSpPr>
        <dsp:cNvPr id="0" name=""/>
        <dsp:cNvSpPr/>
      </dsp:nvSpPr>
      <dsp:spPr>
        <a:xfrm>
          <a:off x="1747606" y="1228906"/>
          <a:ext cx="2601236" cy="6923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rPr>
            <a:t>Marker Gene list</a:t>
          </a:r>
        </a:p>
      </dsp:txBody>
      <dsp:txXfrm>
        <a:off x="1781402" y="1262702"/>
        <a:ext cx="2533644" cy="624730"/>
      </dsp:txXfrm>
    </dsp:sp>
    <dsp:sp modelId="{26E8B77B-5C61-4A48-8686-0D025346F5C6}">
      <dsp:nvSpPr>
        <dsp:cNvPr id="0" name=""/>
        <dsp:cNvSpPr/>
      </dsp:nvSpPr>
      <dsp:spPr>
        <a:xfrm rot="16199249">
          <a:off x="2829545" y="1010350"/>
          <a:ext cx="43711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37111" y="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07D2AE-7F57-4A17-8FFC-B2AB20290D70}">
      <dsp:nvSpPr>
        <dsp:cNvPr id="0" name=""/>
        <dsp:cNvSpPr/>
      </dsp:nvSpPr>
      <dsp:spPr>
        <a:xfrm>
          <a:off x="2639567" y="299863"/>
          <a:ext cx="816864" cy="491931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Bins</a:t>
          </a:r>
          <a:endParaRPr lang="en-US" sz="2300" kern="1200" dirty="0"/>
        </a:p>
      </dsp:txBody>
      <dsp:txXfrm>
        <a:off x="2663581" y="323877"/>
        <a:ext cx="768836" cy="443903"/>
      </dsp:txXfrm>
    </dsp:sp>
    <dsp:sp modelId="{54028BA6-8762-4B97-A668-63ADEAAD9F32}">
      <dsp:nvSpPr>
        <dsp:cNvPr id="0" name=""/>
        <dsp:cNvSpPr/>
      </dsp:nvSpPr>
      <dsp:spPr>
        <a:xfrm rot="1847809">
          <a:off x="3569472" y="2137324"/>
          <a:ext cx="84413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44130" y="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942506-04FE-4A50-9A1E-27E6C4B86658}">
      <dsp:nvSpPr>
        <dsp:cNvPr id="0" name=""/>
        <dsp:cNvSpPr/>
      </dsp:nvSpPr>
      <dsp:spPr>
        <a:xfrm>
          <a:off x="3982650" y="2353420"/>
          <a:ext cx="2113349" cy="81686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Contamination</a:t>
          </a:r>
        </a:p>
      </dsp:txBody>
      <dsp:txXfrm>
        <a:off x="4022526" y="2393296"/>
        <a:ext cx="2033597" cy="737112"/>
      </dsp:txXfrm>
    </dsp:sp>
    <dsp:sp modelId="{C01C7588-9FCE-4B59-8BA0-5299B9363B18}">
      <dsp:nvSpPr>
        <dsp:cNvPr id="0" name=""/>
        <dsp:cNvSpPr/>
      </dsp:nvSpPr>
      <dsp:spPr>
        <a:xfrm rot="8871889">
          <a:off x="1748896" y="2136742"/>
          <a:ext cx="81032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0324" y="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86B351-479A-4003-BDF0-9A57463F0999}">
      <dsp:nvSpPr>
        <dsp:cNvPr id="0" name=""/>
        <dsp:cNvSpPr/>
      </dsp:nvSpPr>
      <dsp:spPr>
        <a:xfrm>
          <a:off x="104084" y="2352256"/>
          <a:ext cx="2113349" cy="81686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Completeness</a:t>
          </a:r>
          <a:endParaRPr lang="en-US" sz="2600" kern="1200" dirty="0"/>
        </a:p>
      </dsp:txBody>
      <dsp:txXfrm>
        <a:off x="143960" y="2392132"/>
        <a:ext cx="2033597" cy="7371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398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everyone! Today we'll dive into shotgun metagenomics — what it is, how it works, and how we can analyze and visualize the data it generates.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our goals. We’ll go step by step through the metagenomics workflow, focusing on shotgun sequencing, and look at practical tools and visualizations.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dirty="0"/>
              <a:t>Metagenomics helps us understand microbial communities. Shotgun metagenomics is more comprehensive — we sequence everything, not just marker genes.</a:t>
            </a:r>
            <a:r>
              <a:rPr lang="en-US" b="1" dirty="0"/>
              <a:t> </a:t>
            </a:r>
          </a:p>
          <a:p>
            <a:pPr>
              <a:lnSpc>
                <a:spcPct val="200000"/>
              </a:lnSpc>
            </a:pPr>
            <a:r>
              <a:rPr lang="en-US" b="1" dirty="0"/>
              <a:t>Shotgun Metagenomics –</a:t>
            </a:r>
            <a:r>
              <a:rPr lang="en-US" dirty="0"/>
              <a:t>sequences from “all” DNA</a:t>
            </a:r>
          </a:p>
          <a:p>
            <a:pPr>
              <a:lnSpc>
                <a:spcPct val="200000"/>
              </a:lnSpc>
            </a:pPr>
            <a:r>
              <a:rPr lang="en-US" b="1" dirty="0"/>
              <a:t>Metabarcoding –</a:t>
            </a:r>
            <a:r>
              <a:rPr lang="en-US" dirty="0"/>
              <a:t> amplicons of the 16S gene region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Shotgun metagenomics lets us go beyond 'who’s there' to ask 'what are they doing?'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544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data begins with good planning. Consistent sample collection and well-documented metadata are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data begins with good planning. Consistent sample collection and well-documented metadata are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79277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Sequencing Depth and Coverage: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 of the importance of sequencing depth to capture the diversity and abundance of microbial communities</a:t>
            </a:r>
          </a:p>
          <a:p>
            <a:r>
              <a:rPr lang="en-US" dirty="0" err="1"/>
              <a:t>Eg</a:t>
            </a:r>
            <a:r>
              <a:rPr lang="en-US" dirty="0"/>
              <a:t> depth -&gt; nucleotide A sequenced 30 times means sequencing depth at that nucleotide position is 30x</a:t>
            </a:r>
          </a:p>
          <a:p>
            <a:r>
              <a:rPr lang="en-US" dirty="0" err="1"/>
              <a:t>Eg</a:t>
            </a:r>
            <a:r>
              <a:rPr lang="en-US" dirty="0"/>
              <a:t> coverage -&gt; If a genome of 3 billion bp is sequenced to an average depth of 30x, the coverage would be 30x. I.e. on average each base in the genome has been sequenced 30 times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309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Check raw read quality. </a:t>
            </a:r>
            <a:r>
              <a:rPr dirty="0" err="1"/>
              <a:t>FastQC</a:t>
            </a:r>
            <a:r>
              <a:rPr dirty="0"/>
              <a:t> gives a quick overview and highlights issues.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Key metrics: quality scores, GC content, duplication.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Clean reads to avoid downstream errors.</a:t>
            </a:r>
            <a:endParaRPr lang="en-US" dirty="0"/>
          </a:p>
          <a:p>
            <a:r>
              <a:rPr lang="en-US" dirty="0" err="1"/>
              <a:t>FastQC</a:t>
            </a:r>
            <a:r>
              <a:rPr lang="en-US" dirty="0"/>
              <a:t> looks at quality collectively across all reads within a sample.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Clean reads to avoid downstream errors.</a:t>
            </a:r>
            <a:endParaRPr lang="en-US" dirty="0"/>
          </a:p>
          <a:p>
            <a:r>
              <a:rPr lang="en-US" dirty="0" err="1"/>
              <a:t>Trimmomatic</a:t>
            </a:r>
            <a:r>
              <a:rPr lang="en-US" dirty="0"/>
              <a:t> – removes adapters and low-quality bases or reads.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16148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Grouping of reads into contigs and then scaffolds to obtain sequence of whole chromosome.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20832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Grouping of reads into contigs and then scaffolds to obtain sequence of whole chromosome.</a:t>
            </a:r>
          </a:p>
          <a:p>
            <a:r>
              <a:rPr lang="en-US" dirty="0"/>
              <a:t>MEGAHIT, </a:t>
            </a:r>
            <a:r>
              <a:rPr lang="en-US" dirty="0" err="1"/>
              <a:t>MetaSPAdes</a:t>
            </a:r>
            <a:r>
              <a:rPr lang="en-US" dirty="0"/>
              <a:t>.</a:t>
            </a:r>
          </a:p>
          <a:p>
            <a:r>
              <a:rPr lang="en-US" dirty="0"/>
              <a:t>Challenges: </a:t>
            </a:r>
          </a:p>
          <a:p>
            <a:r>
              <a:rPr lang="en-US" dirty="0"/>
              <a:t>Differences in coverage between the genomes due to the differences in abundance in the sample.</a:t>
            </a:r>
          </a:p>
          <a:p>
            <a:r>
              <a:rPr lang="en-US" dirty="0"/>
              <a:t>The fact that different species often share conserved regions.</a:t>
            </a:r>
          </a:p>
          <a:p>
            <a:r>
              <a:rPr lang="en-US" dirty="0"/>
              <a:t>The presence of several strains of a single species in the community.</a:t>
            </a:r>
          </a:p>
          <a:p>
            <a:r>
              <a:rPr lang="en-US" dirty="0" err="1"/>
              <a:t>MetaQUAST</a:t>
            </a:r>
            <a:r>
              <a:rPr lang="en-US" dirty="0"/>
              <a:t> evaluates and compares metagenome assemblies based on alignments to close references.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87625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Grouping of reads into contigs and then scaffolds to obtain sequence of whole chromosome.</a:t>
            </a:r>
          </a:p>
          <a:p>
            <a:r>
              <a:rPr lang="en-US" dirty="0" err="1"/>
              <a:t>Maxbin</a:t>
            </a:r>
            <a:r>
              <a:rPr lang="en-US" dirty="0"/>
              <a:t>, Metabat2, CONCOCT - </a:t>
            </a:r>
            <a:r>
              <a:rPr lang="en-US" dirty="0" err="1"/>
              <a:t>Metawrap</a:t>
            </a:r>
            <a:endParaRPr lang="en-US" dirty="0"/>
          </a:p>
          <a:p>
            <a:r>
              <a:rPr lang="en-US" dirty="0"/>
              <a:t>GC content and genome size are like fingerprints of taxa.</a:t>
            </a:r>
          </a:p>
          <a:p>
            <a:r>
              <a:rPr lang="en-US" dirty="0"/>
              <a:t>Coverage - reads that originate from the same genome are expected to have similar coverage</a:t>
            </a:r>
          </a:p>
          <a:p>
            <a:r>
              <a:rPr lang="en-US" dirty="0"/>
              <a:t>GC content - genomes have distinct sequence composition patterns</a:t>
            </a:r>
          </a:p>
          <a:p>
            <a:endParaRPr lang="en-US" dirty="0"/>
          </a:p>
          <a:p>
            <a:r>
              <a:rPr lang="en-US" dirty="0" err="1"/>
              <a:t>CheckM</a:t>
            </a:r>
            <a:r>
              <a:rPr lang="en-US" dirty="0"/>
              <a:t> – quality of bins</a:t>
            </a:r>
          </a:p>
          <a:p>
            <a:r>
              <a:rPr lang="en-US" dirty="0"/>
              <a:t>Factors that influence quality: </a:t>
            </a:r>
          </a:p>
          <a:p>
            <a:pPr marL="171450" indent="-171450">
              <a:buFontTx/>
              <a:buChar char="-"/>
            </a:pPr>
            <a:r>
              <a:rPr lang="en-US" dirty="0"/>
              <a:t>Genome size</a:t>
            </a:r>
          </a:p>
          <a:p>
            <a:pPr marL="171450" indent="-171450">
              <a:buFontTx/>
              <a:buChar char="-"/>
            </a:pPr>
            <a:r>
              <a:rPr lang="en-US" dirty="0"/>
              <a:t>Abundance</a:t>
            </a:r>
          </a:p>
          <a:p>
            <a:pPr marL="171450" indent="-171450">
              <a:buFontTx/>
              <a:buChar char="-"/>
            </a:pPr>
            <a:r>
              <a:rPr lang="en-US" dirty="0"/>
              <a:t>Sequencing depth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946440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Taxonomic classification links sequences to organisms.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genome database is broken into pieces of length k to be able to search for unique pieces by taxonomic group, from a lowest common ancestor (LCA), passing through phylum to species. Next, we break the query sequence (reads/contigs) into pieces of length k and look where these are placed within the tree.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05790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genome database is broken into pieces of length k to be able to search for unique pieces by taxonomic group, from a lowest common ancestor (LCA), passing through phylum to species. Next, we break the query sequence (reads/contigs) into pieces of length k and look where these are placed within the tree.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037633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0" dirty="0"/>
              <a:t>(alpha)</a:t>
            </a:r>
          </a:p>
          <a:p>
            <a:r>
              <a:rPr lang="en-US" b="1" dirty="0"/>
              <a:t>Species richness</a:t>
            </a:r>
            <a:r>
              <a:rPr lang="en-US" dirty="0"/>
              <a:t>: Number of species in a sample.</a:t>
            </a:r>
          </a:p>
          <a:p>
            <a:r>
              <a:rPr lang="en-US" b="1" dirty="0"/>
              <a:t>Shannon index</a:t>
            </a:r>
            <a:r>
              <a:rPr lang="en-US" dirty="0"/>
              <a:t>: Accounts for both abundance and evenness of species.</a:t>
            </a:r>
          </a:p>
          <a:p>
            <a:r>
              <a:rPr lang="en-US" b="1" dirty="0"/>
              <a:t>Simpson's index</a:t>
            </a:r>
            <a:r>
              <a:rPr lang="en-US" dirty="0"/>
              <a:t>: Emphasizes the dominance or evenness of species.</a:t>
            </a:r>
          </a:p>
          <a:p>
            <a:endParaRPr lang="en-US" dirty="0"/>
          </a:p>
          <a:p>
            <a:r>
              <a:rPr lang="en-US" dirty="0"/>
              <a:t>(beta)</a:t>
            </a:r>
          </a:p>
          <a:p>
            <a:r>
              <a:rPr lang="en-US" b="1" dirty="0"/>
              <a:t>Jaccard index</a:t>
            </a:r>
            <a:r>
              <a:rPr lang="en-US" dirty="0"/>
              <a:t>: Based on presence/absence.</a:t>
            </a:r>
          </a:p>
          <a:p>
            <a:r>
              <a:rPr lang="en-US" b="1" dirty="0"/>
              <a:t>Bray–Curtis dissimilarity</a:t>
            </a:r>
            <a:r>
              <a:rPr lang="en-US" dirty="0"/>
              <a:t>: Based on abundance data.</a:t>
            </a:r>
          </a:p>
          <a:p>
            <a:r>
              <a:rPr lang="en-US" b="1" dirty="0" err="1"/>
              <a:t>UniFrac</a:t>
            </a:r>
            <a:r>
              <a:rPr lang="en-US" b="1" dirty="0"/>
              <a:t> (weighted/unweighted)</a:t>
            </a:r>
            <a:r>
              <a:rPr lang="en-US" dirty="0"/>
              <a:t>: Phylogenetic distance used in microbiome studies.</a:t>
            </a:r>
          </a:p>
          <a:p>
            <a:endParaRPr lang="en-US" dirty="0"/>
          </a:p>
          <a:p>
            <a:r>
              <a:rPr lang="en-US" dirty="0"/>
              <a:t>(gamma)</a:t>
            </a:r>
          </a:p>
          <a:p>
            <a:r>
              <a:rPr lang="en-US" dirty="0"/>
              <a:t>Pooling all samples together and calculating richness.</a:t>
            </a:r>
          </a:p>
          <a:p>
            <a:r>
              <a:rPr lang="en-US" dirty="0"/>
              <a:t>Summing/averaging alpha diversity and incorporating beta diversity.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Thanks for participating! Explore the Carpentries Lab curriculum for hands-on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database-data-computer-network-1954920/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15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13" Type="http://schemas.openxmlformats.org/officeDocument/2006/relationships/image" Target="../media/image21.png"/><Relationship Id="rId18" Type="http://schemas.microsoft.com/office/2007/relationships/diagramDrawing" Target="../diagrams/drawing3.xml"/><Relationship Id="rId3" Type="http://schemas.openxmlformats.org/officeDocument/2006/relationships/image" Target="../media/image16.png"/><Relationship Id="rId21" Type="http://schemas.openxmlformats.org/officeDocument/2006/relationships/image" Target="../media/image24.png"/><Relationship Id="rId7" Type="http://schemas.openxmlformats.org/officeDocument/2006/relationships/diagramQuickStyle" Target="../diagrams/quickStyle2.xml"/><Relationship Id="rId12" Type="http://schemas.openxmlformats.org/officeDocument/2006/relationships/image" Target="../media/image20.png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6" Type="http://schemas.openxmlformats.org/officeDocument/2006/relationships/diagramQuickStyle" Target="../diagrams/quickStyle3.xml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11" Type="http://schemas.openxmlformats.org/officeDocument/2006/relationships/image" Target="../media/image19.png"/><Relationship Id="rId5" Type="http://schemas.openxmlformats.org/officeDocument/2006/relationships/diagramData" Target="../diagrams/data2.xml"/><Relationship Id="rId15" Type="http://schemas.openxmlformats.org/officeDocument/2006/relationships/diagramLayout" Target="../diagrams/layout3.xml"/><Relationship Id="rId23" Type="http://schemas.openxmlformats.org/officeDocument/2006/relationships/image" Target="../media/image26.png"/><Relationship Id="rId10" Type="http://schemas.openxmlformats.org/officeDocument/2006/relationships/image" Target="../media/image18.jpeg"/><Relationship Id="rId19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microsoft.com/office/2007/relationships/diagramDrawing" Target="../diagrams/drawing2.xml"/><Relationship Id="rId14" Type="http://schemas.openxmlformats.org/officeDocument/2006/relationships/diagramData" Target="../diagrams/data3.xml"/><Relationship Id="rId22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1.png"/><Relationship Id="rId7" Type="http://schemas.openxmlformats.org/officeDocument/2006/relationships/diagramColors" Target="../diagrams/colors4.xml"/><Relationship Id="rId12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11" Type="http://schemas.openxmlformats.org/officeDocument/2006/relationships/image" Target="../media/image24.png"/><Relationship Id="rId5" Type="http://schemas.openxmlformats.org/officeDocument/2006/relationships/diagramLayout" Target="../diagrams/layout4.xml"/><Relationship Id="rId10" Type="http://schemas.openxmlformats.org/officeDocument/2006/relationships/image" Target="../media/image23.png"/><Relationship Id="rId4" Type="http://schemas.openxmlformats.org/officeDocument/2006/relationships/diagramData" Target="../diagrams/data4.xml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dsufz/MuDoGeR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1D0EC4AC-B116-4384-9F98-A5DA90334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82" y="211270"/>
            <a:ext cx="8097837" cy="215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en-US" sz="3200" b="1" dirty="0">
                <a:solidFill>
                  <a:schemeClr val="tx1"/>
                </a:solidFill>
                <a:latin typeface="+mj-lt"/>
              </a:rPr>
              <a:t>Introduction to Metagenomics – from samples to sequences and beyond</a:t>
            </a:r>
            <a:endParaRPr lang="en-US" sz="3200" dirty="0">
              <a:solidFill>
                <a:schemeClr val="tx1"/>
              </a:solidFill>
              <a:latin typeface="+mj-lt"/>
            </a:endParaRPr>
          </a:p>
          <a:p>
            <a:pPr>
              <a:lnSpc>
                <a:spcPts val="2188"/>
              </a:lnSpc>
            </a:pPr>
            <a:endParaRPr lang="en-US" alt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DDF03E36-A213-4DC3-8515-989139D5A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4065627"/>
            <a:ext cx="2611437" cy="261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ts val="1588"/>
              </a:lnSpc>
            </a:pPr>
            <a:r>
              <a:rPr lang="en-US" altLang="en-US" sz="1100" dirty="0">
                <a:solidFill>
                  <a:schemeClr val="tx1"/>
                </a:solidFill>
                <a:latin typeface="+mj-lt"/>
                <a:cs typeface="DejaVu Sans" panose="020B0603030804020204" pitchFamily="34" charset="0"/>
              </a:rPr>
              <a:t> September 2025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29D21860-B36D-4821-AA7B-92DCF1020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8" y="3524961"/>
            <a:ext cx="5373687" cy="51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400" dirty="0">
                <a:solidFill>
                  <a:schemeClr val="tx1"/>
                </a:solidFill>
                <a:latin typeface="+mj-lt"/>
                <a:cs typeface="DejaVu Sans" panose="020B0603030804020204" pitchFamily="34" charset="0"/>
              </a:rPr>
              <a:t>Dr. João Saraiva, Scientist @ Microbial Interaction Ecology group</a:t>
            </a:r>
          </a:p>
          <a:p>
            <a:pPr>
              <a:lnSpc>
                <a:spcPct val="100000"/>
              </a:lnSpc>
            </a:pPr>
            <a:r>
              <a:rPr lang="en-US" altLang="en-US" sz="1400" dirty="0">
                <a:solidFill>
                  <a:schemeClr val="tx1"/>
                </a:solidFill>
                <a:latin typeface="+mj-lt"/>
                <a:cs typeface="DejaVu Sans" panose="020B0603030804020204" pitchFamily="34" charset="0"/>
              </a:rPr>
              <a:t>Department of Applied Microbial Ecology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CBDAB1-0665-4B3F-80EA-3D66C21728A7}"/>
              </a:ext>
            </a:extLst>
          </p:cNvPr>
          <p:cNvGrpSpPr/>
          <p:nvPr/>
        </p:nvGrpSpPr>
        <p:grpSpPr>
          <a:xfrm>
            <a:off x="354013" y="4378607"/>
            <a:ext cx="1513103" cy="225425"/>
            <a:chOff x="260783" y="4700587"/>
            <a:chExt cx="1513103" cy="225425"/>
          </a:xfrm>
        </p:grpSpPr>
        <p:grpSp>
          <p:nvGrpSpPr>
            <p:cNvPr id="12" name="Group 7">
              <a:extLst>
                <a:ext uri="{FF2B5EF4-FFF2-40B4-BE49-F238E27FC236}">
                  <a16:creationId xmlns:a16="http://schemas.microsoft.com/office/drawing/2014/main" id="{DA98B6CE-25E6-46BF-BB08-39F2F83057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323" y="4700587"/>
              <a:ext cx="1325563" cy="225425"/>
              <a:chOff x="350" y="2981"/>
              <a:chExt cx="835" cy="142"/>
            </a:xfrm>
          </p:grpSpPr>
          <p:sp>
            <p:nvSpPr>
              <p:cNvPr id="14" name="Rectangle 8">
                <a:extLst>
                  <a:ext uri="{FF2B5EF4-FFF2-40B4-BE49-F238E27FC236}">
                    <a16:creationId xmlns:a16="http://schemas.microsoft.com/office/drawing/2014/main" id="{2C4E04CA-268A-429A-9C27-A916013AC8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" y="2981"/>
                <a:ext cx="835" cy="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5000" rIns="90000" bIns="45000"/>
              <a:lstStyle>
                <a:lvl1pPr>
                  <a:tabLst>
                    <a:tab pos="457200" algn="l"/>
                    <a:tab pos="914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Noto Sans CJK SC" charset="0"/>
                  </a:defRPr>
                </a:lvl1pPr>
                <a:lvl2pPr>
                  <a:tabLst>
                    <a:tab pos="457200" algn="l"/>
                    <a:tab pos="914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Noto Sans CJK SC" charset="0"/>
                  </a:defRPr>
                </a:lvl2pPr>
                <a:lvl3pPr>
                  <a:tabLst>
                    <a:tab pos="457200" algn="l"/>
                    <a:tab pos="914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Noto Sans CJK SC" charset="0"/>
                  </a:defRPr>
                </a:lvl3pPr>
                <a:lvl4pPr>
                  <a:tabLst>
                    <a:tab pos="457200" algn="l"/>
                    <a:tab pos="914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Noto Sans CJK SC" charset="0"/>
                  </a:defRPr>
                </a:lvl4pPr>
                <a:lvl5pPr>
                  <a:tabLst>
                    <a:tab pos="457200" algn="l"/>
                    <a:tab pos="914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Noto Sans CJK SC" charset="0"/>
                  </a:defRPr>
                </a:lvl5pPr>
                <a:lvl6pPr marL="2514600" indent="-228600" defTabSz="4572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457200" algn="l"/>
                    <a:tab pos="914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Noto Sans CJK SC" charset="0"/>
                  </a:defRPr>
                </a:lvl6pPr>
                <a:lvl7pPr marL="2971800" indent="-228600" defTabSz="4572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457200" algn="l"/>
                    <a:tab pos="914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Noto Sans CJK SC" charset="0"/>
                  </a:defRPr>
                </a:lvl7pPr>
                <a:lvl8pPr marL="3429000" indent="-228600" defTabSz="4572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457200" algn="l"/>
                    <a:tab pos="914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Noto Sans CJK SC" charset="0"/>
                  </a:defRPr>
                </a:lvl8pPr>
                <a:lvl9pPr marL="3886200" indent="-228600" defTabSz="4572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457200" algn="l"/>
                    <a:tab pos="914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Noto Sans CJK SC" charset="0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en-US" sz="900" dirty="0">
                    <a:solidFill>
                      <a:schemeClr val="tx1"/>
                    </a:solidFill>
                    <a:latin typeface="+mj-lt"/>
                    <a:cs typeface="DejaVu Sans" panose="020B0603030804020204" pitchFamily="34" charset="0"/>
                  </a:rPr>
                  <a:t>Joao.saraiva@ufz.de</a:t>
                </a:r>
              </a:p>
            </p:txBody>
          </p:sp>
        </p:grpSp>
        <p:pic>
          <p:nvPicPr>
            <p:cNvPr id="13" name="Picture 13">
              <a:extLst>
                <a:ext uri="{FF2B5EF4-FFF2-40B4-BE49-F238E27FC236}">
                  <a16:creationId xmlns:a16="http://schemas.microsoft.com/office/drawing/2014/main" id="{A166ABEA-E6C0-4F63-ACC6-31EC3EF187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783" y="4737100"/>
              <a:ext cx="190500" cy="152400"/>
            </a:xfrm>
            <a:prstGeom prst="rect">
              <a:avLst/>
            </a:prstGeom>
            <a:solidFill>
              <a:schemeClr val="bg1"/>
            </a:solidFill>
            <a:ln w="9525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B45535B9-A3B2-4B6D-A2A8-2E282AD9E8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1050" y="5575526"/>
            <a:ext cx="1540849" cy="9889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89EA09-419B-489F-9436-0B57EFF7A6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2062" y="5873128"/>
            <a:ext cx="1325563" cy="44333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1E130DAF-B837-4483-BF74-84184BD14A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7230" y="5909057"/>
            <a:ext cx="942975" cy="371475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82DC23E3-42FA-4A9D-B05A-6C9781A236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29280" y="5652941"/>
            <a:ext cx="883706" cy="883706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E7DC453-180D-4071-8E08-15FF1A9305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5121" y="5824645"/>
            <a:ext cx="1873034" cy="5402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dirty="0"/>
              <a:t>Define shotgun metagenomics vs. </a:t>
            </a:r>
            <a:r>
              <a:rPr lang="en-US" dirty="0"/>
              <a:t>amplicon</a:t>
            </a:r>
            <a:endParaRPr dirty="0"/>
          </a:p>
          <a:p>
            <a:pPr>
              <a:lnSpc>
                <a:spcPct val="150000"/>
              </a:lnSpc>
            </a:pPr>
            <a:r>
              <a:rPr dirty="0"/>
              <a:t>Understand the bioinformatics pipeline.</a:t>
            </a:r>
          </a:p>
          <a:p>
            <a:pPr>
              <a:lnSpc>
                <a:spcPct val="150000"/>
              </a:lnSpc>
            </a:pPr>
            <a:r>
              <a:rPr dirty="0"/>
              <a:t>Get familiar with key tools and methods.</a:t>
            </a:r>
          </a:p>
          <a:p>
            <a:pPr>
              <a:lnSpc>
                <a:spcPct val="150000"/>
              </a:lnSpc>
            </a:pPr>
            <a:r>
              <a:rPr dirty="0"/>
              <a:t>Interpret taxonomic and diversity outputs.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AEE3AFDF-ED93-4654-A83D-F4933474C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6746"/>
            <a:ext cx="8097837" cy="1248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en-US" sz="4400" b="1" dirty="0">
                <a:solidFill>
                  <a:schemeClr val="tx1"/>
                </a:solidFill>
                <a:latin typeface="+mj-lt"/>
              </a:rPr>
              <a:t>Learning objectives</a:t>
            </a:r>
            <a:endParaRPr lang="en-US" sz="4400" dirty="0">
              <a:solidFill>
                <a:schemeClr val="tx1"/>
              </a:solidFill>
              <a:latin typeface="+mj-lt"/>
            </a:endParaRPr>
          </a:p>
          <a:p>
            <a:pPr>
              <a:lnSpc>
                <a:spcPts val="2188"/>
              </a:lnSpc>
            </a:pPr>
            <a:endParaRPr lang="en-US" altLang="en-US" sz="4400" b="1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Metagenomics?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397104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dirty="0"/>
              <a:t>Study of genetic material from environmental samples.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dirty="0"/>
              <a:t>Two approaches: </a:t>
            </a:r>
            <a:r>
              <a:rPr lang="en-US" dirty="0"/>
              <a:t>Amplicon</a:t>
            </a:r>
            <a:r>
              <a:rPr dirty="0"/>
              <a:t> and </a:t>
            </a:r>
            <a:r>
              <a:rPr lang="en-US" dirty="0"/>
              <a:t>Whole Genome </a:t>
            </a:r>
            <a:r>
              <a:rPr dirty="0"/>
              <a:t>Shotgun Metagenomics.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44344E-87EB-47D8-A87C-19F33F66FC60}"/>
              </a:ext>
            </a:extLst>
          </p:cNvPr>
          <p:cNvGrpSpPr/>
          <p:nvPr/>
        </p:nvGrpSpPr>
        <p:grpSpPr>
          <a:xfrm>
            <a:off x="1201340" y="1417638"/>
            <a:ext cx="6604054" cy="4662977"/>
            <a:chOff x="1201340" y="1698269"/>
            <a:chExt cx="6604054" cy="46629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1FA5419-9928-49DE-90EB-3B44B1E31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1340" y="1698269"/>
              <a:ext cx="6480061" cy="432207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7F8EF2-A69E-4EB7-ABB4-24BE17622669}"/>
                </a:ext>
              </a:extLst>
            </p:cNvPr>
            <p:cNvSpPr/>
            <p:nvPr/>
          </p:nvSpPr>
          <p:spPr>
            <a:xfrm>
              <a:off x="4308049" y="6115025"/>
              <a:ext cx="349734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/>
                <a:t>https://astrobiomike.github.io/misc/amplicon_and_metagen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aar, Beziehung, Liebe, Romantik, Mann, Frau, Freund">
            <a:extLst>
              <a:ext uri="{FF2B5EF4-FFF2-40B4-BE49-F238E27FC236}">
                <a16:creationId xmlns:a16="http://schemas.microsoft.com/office/drawing/2014/main" id="{1E61A95C-8B1D-4EFF-AF4E-0186C5D81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877" y="3858492"/>
            <a:ext cx="1207129" cy="1633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Junge, Paar, Weiblich, Mädchen, Liebe, Männlich, Mann">
            <a:extLst>
              <a:ext uri="{FF2B5EF4-FFF2-40B4-BE49-F238E27FC236}">
                <a16:creationId xmlns:a16="http://schemas.microsoft.com/office/drawing/2014/main" id="{50AA461A-AEAD-4343-BBB5-A151B4223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98" y="3842117"/>
            <a:ext cx="1231348" cy="158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aar, Beziehung, Liebe, Romantik, Mann, Frau, Freund">
            <a:extLst>
              <a:ext uri="{FF2B5EF4-FFF2-40B4-BE49-F238E27FC236}">
                <a16:creationId xmlns:a16="http://schemas.microsoft.com/office/drawing/2014/main" id="{9E943A9C-1FF6-45C1-9806-F7F869F546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 flipH="1">
            <a:off x="7340867" y="3900306"/>
            <a:ext cx="542941" cy="146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2">
            <a:extLst>
              <a:ext uri="{FF2B5EF4-FFF2-40B4-BE49-F238E27FC236}">
                <a16:creationId xmlns:a16="http://schemas.microsoft.com/office/drawing/2014/main" id="{3C798BBE-A139-4127-9D18-2D136AEE7BE1}"/>
              </a:ext>
            </a:extLst>
          </p:cNvPr>
          <p:cNvSpPr txBox="1"/>
          <p:nvPr/>
        </p:nvSpPr>
        <p:spPr>
          <a:xfrm>
            <a:off x="2790850" y="3415889"/>
            <a:ext cx="1159292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/>
              <a:t>Alejandra</a:t>
            </a:r>
          </a:p>
        </p:txBody>
      </p:sp>
      <p:sp>
        <p:nvSpPr>
          <p:cNvPr id="8" name="Textfeld 10">
            <a:extLst>
              <a:ext uri="{FF2B5EF4-FFF2-40B4-BE49-F238E27FC236}">
                <a16:creationId xmlns:a16="http://schemas.microsoft.com/office/drawing/2014/main" id="{CFA1EB5B-6EA4-4C19-B1D8-72B67DA6E188}"/>
              </a:ext>
            </a:extLst>
          </p:cNvPr>
          <p:cNvSpPr txBox="1"/>
          <p:nvPr/>
        </p:nvSpPr>
        <p:spPr>
          <a:xfrm>
            <a:off x="6050231" y="3415889"/>
            <a:ext cx="851515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/>
              <a:t>Liliana</a:t>
            </a:r>
          </a:p>
        </p:txBody>
      </p:sp>
      <p:sp>
        <p:nvSpPr>
          <p:cNvPr id="9" name="Textfeld 11">
            <a:extLst>
              <a:ext uri="{FF2B5EF4-FFF2-40B4-BE49-F238E27FC236}">
                <a16:creationId xmlns:a16="http://schemas.microsoft.com/office/drawing/2014/main" id="{CDC99E94-F0FC-4918-953F-5AA040A496FD}"/>
              </a:ext>
            </a:extLst>
          </p:cNvPr>
          <p:cNvSpPr txBox="1"/>
          <p:nvPr/>
        </p:nvSpPr>
        <p:spPr>
          <a:xfrm>
            <a:off x="3922507" y="3415889"/>
            <a:ext cx="979755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/>
              <a:t>Ricardo</a:t>
            </a:r>
          </a:p>
        </p:txBody>
      </p:sp>
      <p:sp>
        <p:nvSpPr>
          <p:cNvPr id="10" name="Textfeld 12">
            <a:extLst>
              <a:ext uri="{FF2B5EF4-FFF2-40B4-BE49-F238E27FC236}">
                <a16:creationId xmlns:a16="http://schemas.microsoft.com/office/drawing/2014/main" id="{D4ABFCCE-2D25-42AC-A9AC-758A4246B321}"/>
              </a:ext>
            </a:extLst>
          </p:cNvPr>
          <p:cNvSpPr txBox="1"/>
          <p:nvPr/>
        </p:nvSpPr>
        <p:spPr>
          <a:xfrm>
            <a:off x="5076364" y="3415889"/>
            <a:ext cx="595035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/>
              <a:t>Ben</a:t>
            </a:r>
          </a:p>
        </p:txBody>
      </p:sp>
      <p:sp>
        <p:nvSpPr>
          <p:cNvPr id="11" name="Textfeld 13">
            <a:extLst>
              <a:ext uri="{FF2B5EF4-FFF2-40B4-BE49-F238E27FC236}">
                <a16:creationId xmlns:a16="http://schemas.microsoft.com/office/drawing/2014/main" id="{39AE30DC-B570-4AB9-A129-1FA59FF6B09E}"/>
              </a:ext>
            </a:extLst>
          </p:cNvPr>
          <p:cNvSpPr txBox="1"/>
          <p:nvPr/>
        </p:nvSpPr>
        <p:spPr>
          <a:xfrm>
            <a:off x="7006833" y="3415889"/>
            <a:ext cx="1133644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/>
              <a:t>Jonathan</a:t>
            </a:r>
          </a:p>
        </p:txBody>
      </p:sp>
      <p:sp>
        <p:nvSpPr>
          <p:cNvPr id="12" name="Textfeld 14">
            <a:extLst>
              <a:ext uri="{FF2B5EF4-FFF2-40B4-BE49-F238E27FC236}">
                <a16:creationId xmlns:a16="http://schemas.microsoft.com/office/drawing/2014/main" id="{0850D35A-1D8A-40C9-92BA-D7979E13A000}"/>
              </a:ext>
            </a:extLst>
          </p:cNvPr>
          <p:cNvSpPr txBox="1"/>
          <p:nvPr/>
        </p:nvSpPr>
        <p:spPr>
          <a:xfrm>
            <a:off x="3053743" y="2842378"/>
            <a:ext cx="633507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/>
              <a:t>Pilot</a:t>
            </a:r>
          </a:p>
        </p:txBody>
      </p:sp>
      <p:sp>
        <p:nvSpPr>
          <p:cNvPr id="13" name="Textfeld 15">
            <a:extLst>
              <a:ext uri="{FF2B5EF4-FFF2-40B4-BE49-F238E27FC236}">
                <a16:creationId xmlns:a16="http://schemas.microsoft.com/office/drawing/2014/main" id="{EAA25A78-06A4-450F-8FD1-504689DA6809}"/>
              </a:ext>
            </a:extLst>
          </p:cNvPr>
          <p:cNvSpPr txBox="1"/>
          <p:nvPr/>
        </p:nvSpPr>
        <p:spPr>
          <a:xfrm>
            <a:off x="4012275" y="2842378"/>
            <a:ext cx="800219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/>
              <a:t>Driver</a:t>
            </a:r>
          </a:p>
        </p:txBody>
      </p:sp>
      <p:sp>
        <p:nvSpPr>
          <p:cNvPr id="14" name="Textfeld 16">
            <a:extLst>
              <a:ext uri="{FF2B5EF4-FFF2-40B4-BE49-F238E27FC236}">
                <a16:creationId xmlns:a16="http://schemas.microsoft.com/office/drawing/2014/main" id="{564A5054-6A72-4DB5-9642-4AE8370ACEA4}"/>
              </a:ext>
            </a:extLst>
          </p:cNvPr>
          <p:cNvSpPr txBox="1"/>
          <p:nvPr/>
        </p:nvSpPr>
        <p:spPr>
          <a:xfrm>
            <a:off x="4980184" y="2842378"/>
            <a:ext cx="787395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/>
              <a:t>Baker</a:t>
            </a:r>
          </a:p>
        </p:txBody>
      </p:sp>
      <p:sp>
        <p:nvSpPr>
          <p:cNvPr id="15" name="Textfeld 17">
            <a:extLst>
              <a:ext uri="{FF2B5EF4-FFF2-40B4-BE49-F238E27FC236}">
                <a16:creationId xmlns:a16="http://schemas.microsoft.com/office/drawing/2014/main" id="{77ADD253-A844-4804-8882-8E56462A2D36}"/>
              </a:ext>
            </a:extLst>
          </p:cNvPr>
          <p:cNvSpPr txBox="1"/>
          <p:nvPr/>
        </p:nvSpPr>
        <p:spPr>
          <a:xfrm>
            <a:off x="6045902" y="2842378"/>
            <a:ext cx="860172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/>
              <a:t>Officer</a:t>
            </a:r>
          </a:p>
        </p:txBody>
      </p:sp>
      <p:sp>
        <p:nvSpPr>
          <p:cNvPr id="16" name="Textfeld 18">
            <a:extLst>
              <a:ext uri="{FF2B5EF4-FFF2-40B4-BE49-F238E27FC236}">
                <a16:creationId xmlns:a16="http://schemas.microsoft.com/office/drawing/2014/main" id="{7623C536-23C6-4A85-8F52-9A57346F5152}"/>
              </a:ext>
            </a:extLst>
          </p:cNvPr>
          <p:cNvSpPr txBox="1"/>
          <p:nvPr/>
        </p:nvSpPr>
        <p:spPr>
          <a:xfrm>
            <a:off x="7026069" y="2842378"/>
            <a:ext cx="1095172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/>
              <a:t>Postman</a:t>
            </a:r>
          </a:p>
        </p:txBody>
      </p:sp>
      <p:sp>
        <p:nvSpPr>
          <p:cNvPr id="17" name="Textfeld 19">
            <a:extLst>
              <a:ext uri="{FF2B5EF4-FFF2-40B4-BE49-F238E27FC236}">
                <a16:creationId xmlns:a16="http://schemas.microsoft.com/office/drawing/2014/main" id="{F1978128-7A39-474B-9EA5-602F028B2074}"/>
              </a:ext>
            </a:extLst>
          </p:cNvPr>
          <p:cNvSpPr txBox="1"/>
          <p:nvPr/>
        </p:nvSpPr>
        <p:spPr>
          <a:xfrm>
            <a:off x="5018656" y="2125137"/>
            <a:ext cx="710451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/>
              <a:t>Bake</a:t>
            </a:r>
          </a:p>
        </p:txBody>
      </p:sp>
      <p:sp>
        <p:nvSpPr>
          <p:cNvPr id="18" name="Textfeld 20">
            <a:extLst>
              <a:ext uri="{FF2B5EF4-FFF2-40B4-BE49-F238E27FC236}">
                <a16:creationId xmlns:a16="http://schemas.microsoft.com/office/drawing/2014/main" id="{E15A4945-0073-4257-8855-3AEFE1D553BA}"/>
              </a:ext>
            </a:extLst>
          </p:cNvPr>
          <p:cNvSpPr txBox="1"/>
          <p:nvPr/>
        </p:nvSpPr>
        <p:spPr>
          <a:xfrm>
            <a:off x="2970387" y="2125137"/>
            <a:ext cx="800219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/>
              <a:t>Flying</a:t>
            </a:r>
          </a:p>
        </p:txBody>
      </p:sp>
      <p:sp>
        <p:nvSpPr>
          <p:cNvPr id="19" name="Textfeld 21">
            <a:extLst>
              <a:ext uri="{FF2B5EF4-FFF2-40B4-BE49-F238E27FC236}">
                <a16:creationId xmlns:a16="http://schemas.microsoft.com/office/drawing/2014/main" id="{86686744-2C96-4A5A-948D-47DD3119A5E3}"/>
              </a:ext>
            </a:extLst>
          </p:cNvPr>
          <p:cNvSpPr txBox="1"/>
          <p:nvPr/>
        </p:nvSpPr>
        <p:spPr>
          <a:xfrm>
            <a:off x="3960979" y="2125137"/>
            <a:ext cx="902811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 err="1"/>
              <a:t>Driving</a:t>
            </a:r>
            <a:endParaRPr lang="de-DE" sz="1800" dirty="0"/>
          </a:p>
        </p:txBody>
      </p:sp>
      <p:sp>
        <p:nvSpPr>
          <p:cNvPr id="20" name="Textfeld 22">
            <a:extLst>
              <a:ext uri="{FF2B5EF4-FFF2-40B4-BE49-F238E27FC236}">
                <a16:creationId xmlns:a16="http://schemas.microsoft.com/office/drawing/2014/main" id="{8CE876FC-C52C-4578-B8D9-A8866C5AF8D7}"/>
              </a:ext>
            </a:extLst>
          </p:cNvPr>
          <p:cNvSpPr txBox="1"/>
          <p:nvPr/>
        </p:nvSpPr>
        <p:spPr>
          <a:xfrm>
            <a:off x="6056643" y="2125137"/>
            <a:ext cx="838691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 err="1"/>
              <a:t>Eating</a:t>
            </a:r>
            <a:endParaRPr lang="de-DE" sz="1800" dirty="0"/>
          </a:p>
        </p:txBody>
      </p:sp>
      <p:sp>
        <p:nvSpPr>
          <p:cNvPr id="21" name="Textfeld 23">
            <a:extLst>
              <a:ext uri="{FF2B5EF4-FFF2-40B4-BE49-F238E27FC236}">
                <a16:creationId xmlns:a16="http://schemas.microsoft.com/office/drawing/2014/main" id="{764B733A-4002-42B6-937F-2B719C7B42BC}"/>
              </a:ext>
            </a:extLst>
          </p:cNvPr>
          <p:cNvSpPr txBox="1"/>
          <p:nvPr/>
        </p:nvSpPr>
        <p:spPr>
          <a:xfrm>
            <a:off x="7032481" y="2125137"/>
            <a:ext cx="1082348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 err="1"/>
              <a:t>Sleeping</a:t>
            </a:r>
            <a:endParaRPr lang="de-DE" sz="1800" dirty="0"/>
          </a:p>
        </p:txBody>
      </p:sp>
      <p:sp>
        <p:nvSpPr>
          <p:cNvPr id="22" name="Textfeld 25">
            <a:extLst>
              <a:ext uri="{FF2B5EF4-FFF2-40B4-BE49-F238E27FC236}">
                <a16:creationId xmlns:a16="http://schemas.microsoft.com/office/drawing/2014/main" id="{B8BF91DC-6064-45DE-879C-9885E14860B4}"/>
              </a:ext>
            </a:extLst>
          </p:cNvPr>
          <p:cNvSpPr txBox="1"/>
          <p:nvPr/>
        </p:nvSpPr>
        <p:spPr>
          <a:xfrm>
            <a:off x="247688" y="3415889"/>
            <a:ext cx="2377574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000000"/>
                </a:solidFill>
              </a:rPr>
              <a:t>Amplicon </a:t>
            </a:r>
            <a:r>
              <a:rPr lang="de-DE" sz="1800" dirty="0" err="1">
                <a:solidFill>
                  <a:srgbClr val="000000"/>
                </a:solidFill>
              </a:rPr>
              <a:t>sequencing</a:t>
            </a:r>
            <a:endParaRPr lang="de-DE" sz="1800" dirty="0">
              <a:solidFill>
                <a:srgbClr val="000000"/>
              </a:solidFill>
            </a:endParaRPr>
          </a:p>
        </p:txBody>
      </p:sp>
      <p:sp>
        <p:nvSpPr>
          <p:cNvPr id="23" name="Textfeld 26">
            <a:extLst>
              <a:ext uri="{FF2B5EF4-FFF2-40B4-BE49-F238E27FC236}">
                <a16:creationId xmlns:a16="http://schemas.microsoft.com/office/drawing/2014/main" id="{661BCE01-41A9-4D55-9AE3-E04D30EED56B}"/>
              </a:ext>
            </a:extLst>
          </p:cNvPr>
          <p:cNvSpPr txBox="1"/>
          <p:nvPr/>
        </p:nvSpPr>
        <p:spPr>
          <a:xfrm>
            <a:off x="670881" y="2842378"/>
            <a:ext cx="1531188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000000"/>
                </a:solidFill>
              </a:rPr>
              <a:t>Metagenome</a:t>
            </a:r>
          </a:p>
        </p:txBody>
      </p:sp>
      <p:sp>
        <p:nvSpPr>
          <p:cNvPr id="24" name="Textfeld 27">
            <a:extLst>
              <a:ext uri="{FF2B5EF4-FFF2-40B4-BE49-F238E27FC236}">
                <a16:creationId xmlns:a16="http://schemas.microsoft.com/office/drawing/2014/main" id="{0A871722-D4C4-4271-9C6A-AF5C174B1BA3}"/>
              </a:ext>
            </a:extLst>
          </p:cNvPr>
          <p:cNvSpPr txBox="1"/>
          <p:nvPr/>
        </p:nvSpPr>
        <p:spPr>
          <a:xfrm>
            <a:off x="356692" y="1996320"/>
            <a:ext cx="2159566" cy="607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800" dirty="0" err="1">
                <a:solidFill>
                  <a:srgbClr val="000000"/>
                </a:solidFill>
              </a:rPr>
              <a:t>Metatranscriptome</a:t>
            </a:r>
            <a:r>
              <a:rPr lang="de-DE" sz="1800" dirty="0">
                <a:solidFill>
                  <a:srgbClr val="000000"/>
                </a:solidFill>
              </a:rPr>
              <a:t>/</a:t>
            </a:r>
          </a:p>
          <a:p>
            <a:pPr algn="ctr"/>
            <a:r>
              <a:rPr lang="de-DE" sz="1800" dirty="0" err="1">
                <a:solidFill>
                  <a:srgbClr val="000000"/>
                </a:solidFill>
              </a:rPr>
              <a:t>Metaproteome</a:t>
            </a:r>
            <a:endParaRPr lang="de-DE" sz="1800" dirty="0">
              <a:solidFill>
                <a:srgbClr val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5B8879-6CF7-407F-8A90-143B6D3933A4}"/>
              </a:ext>
            </a:extLst>
          </p:cNvPr>
          <p:cNvSpPr txBox="1"/>
          <p:nvPr/>
        </p:nvSpPr>
        <p:spPr>
          <a:xfrm>
            <a:off x="152400" y="438150"/>
            <a:ext cx="8294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b="1" dirty="0" err="1">
                <a:latin typeface="+mj-lt"/>
              </a:rPr>
              <a:t>What</a:t>
            </a:r>
            <a:r>
              <a:rPr lang="de-DE" sz="4400" b="1" dirty="0">
                <a:latin typeface="+mj-lt"/>
              </a:rPr>
              <a:t> </a:t>
            </a:r>
            <a:r>
              <a:rPr lang="de-DE" sz="4400" b="1" dirty="0" err="1">
                <a:latin typeface="+mj-lt"/>
              </a:rPr>
              <a:t>can</a:t>
            </a:r>
            <a:r>
              <a:rPr lang="de-DE" sz="4400" b="1" dirty="0">
                <a:latin typeface="+mj-lt"/>
              </a:rPr>
              <a:t> „</a:t>
            </a:r>
            <a:r>
              <a:rPr lang="de-DE" sz="4400" b="1" dirty="0" err="1">
                <a:latin typeface="+mj-lt"/>
              </a:rPr>
              <a:t>Omics</a:t>
            </a:r>
            <a:r>
              <a:rPr lang="de-DE" sz="4400" b="1" dirty="0">
                <a:latin typeface="+mj-lt"/>
              </a:rPr>
              <a:t>“ </a:t>
            </a:r>
            <a:r>
              <a:rPr lang="de-DE" sz="4400" b="1" dirty="0" err="1">
                <a:latin typeface="+mj-lt"/>
              </a:rPr>
              <a:t>tell</a:t>
            </a:r>
            <a:r>
              <a:rPr lang="de-DE" sz="4400" b="1" dirty="0">
                <a:latin typeface="+mj-lt"/>
              </a:rPr>
              <a:t> </a:t>
            </a:r>
            <a:r>
              <a:rPr lang="de-DE" sz="4400" b="1" dirty="0" err="1">
                <a:latin typeface="+mj-lt"/>
              </a:rPr>
              <a:t>us</a:t>
            </a:r>
            <a:r>
              <a:rPr lang="de-DE" sz="4400" b="1" dirty="0">
                <a:latin typeface="+mj-lt"/>
              </a:rPr>
              <a:t>?</a:t>
            </a:r>
            <a:endParaRPr lang="en-US" sz="4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1161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7DBECF-CD74-470A-B636-BD2B2DFD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Metagenomics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95FBEE-CEAD-4D8E-895A-B864962F88C7}"/>
              </a:ext>
            </a:extLst>
          </p:cNvPr>
          <p:cNvSpPr/>
          <p:nvPr/>
        </p:nvSpPr>
        <p:spPr>
          <a:xfrm>
            <a:off x="278737" y="1917766"/>
            <a:ext cx="17570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3600" b="1" dirty="0"/>
              <a:t>Benefits</a:t>
            </a:r>
            <a:endParaRPr lang="en-US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1DD35-2973-48DF-948A-DB2B5B223B6D}"/>
              </a:ext>
            </a:extLst>
          </p:cNvPr>
          <p:cNvSpPr txBox="1"/>
          <p:nvPr/>
        </p:nvSpPr>
        <p:spPr>
          <a:xfrm>
            <a:off x="5795493" y="1917765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Limitations</a:t>
            </a:r>
            <a:endParaRPr lang="en-US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814110-C2D6-43A4-8299-A8BAFC9CDF0C}"/>
              </a:ext>
            </a:extLst>
          </p:cNvPr>
          <p:cNvSpPr txBox="1"/>
          <p:nvPr/>
        </p:nvSpPr>
        <p:spPr>
          <a:xfrm>
            <a:off x="5795493" y="2976615"/>
            <a:ext cx="3069770" cy="1668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dirty="0"/>
              <a:t>DNA purity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dirty="0"/>
              <a:t>Complexity of the sample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dirty="0"/>
              <a:t>Reference genomes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E8793C-6DAD-4D66-8CB7-B9A73BD2D0E9}"/>
              </a:ext>
            </a:extLst>
          </p:cNvPr>
          <p:cNvSpPr txBox="1"/>
          <p:nvPr/>
        </p:nvSpPr>
        <p:spPr>
          <a:xfrm>
            <a:off x="278737" y="2591660"/>
            <a:ext cx="5246083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Comprehensive analysis of ALL microbial DNA/RNA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Quantitative analysis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Novel and hard-to-culture species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Higher taxonomic resolution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Works low-volume samples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65A679-B40D-490D-821A-724672CD5180}"/>
              </a:ext>
            </a:extLst>
          </p:cNvPr>
          <p:cNvSpPr txBox="1"/>
          <p:nvPr/>
        </p:nvSpPr>
        <p:spPr>
          <a:xfrm>
            <a:off x="2926041" y="438150"/>
            <a:ext cx="3291919" cy="769441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r>
              <a:rPr lang="de-DE" sz="4400" b="1" dirty="0" err="1">
                <a:latin typeface="+mj-lt"/>
              </a:rPr>
              <a:t>Applications</a:t>
            </a:r>
            <a:endParaRPr lang="en-US" sz="4400" b="1" dirty="0">
              <a:latin typeface="+mj-lt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40FA98D-7242-4D43-9312-9A6E187597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9406119"/>
              </p:ext>
            </p:extLst>
          </p:nvPr>
        </p:nvGraphicFramePr>
        <p:xfrm>
          <a:off x="248459" y="1853293"/>
          <a:ext cx="5105400" cy="340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Arc 5">
            <a:extLst>
              <a:ext uri="{FF2B5EF4-FFF2-40B4-BE49-F238E27FC236}">
                <a16:creationId xmlns:a16="http://schemas.microsoft.com/office/drawing/2014/main" id="{137A11A3-2B63-40E9-9730-354F446EC728}"/>
              </a:ext>
            </a:extLst>
          </p:cNvPr>
          <p:cNvSpPr/>
          <p:nvPr/>
        </p:nvSpPr>
        <p:spPr bwMode="auto">
          <a:xfrm rot="18932362">
            <a:off x="4562899" y="2647649"/>
            <a:ext cx="1295400" cy="990600"/>
          </a:xfrm>
          <a:prstGeom prst="arc">
            <a:avLst>
              <a:gd name="adj1" fmla="val 14739153"/>
              <a:gd name="adj2" fmla="val 21238198"/>
            </a:avLst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D565F9-AEED-40EF-BCD0-14AAC1DE472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155332" y="1906752"/>
            <a:ext cx="2300560" cy="1504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053E2E-EA7C-4E97-82A8-6944C3E9EE63}"/>
              </a:ext>
            </a:extLst>
          </p:cNvPr>
          <p:cNvSpPr txBox="1"/>
          <p:nvPr/>
        </p:nvSpPr>
        <p:spPr>
          <a:xfrm>
            <a:off x="5943600" y="3714006"/>
            <a:ext cx="2872933" cy="1122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Pesticides</a:t>
            </a:r>
          </a:p>
          <a:p>
            <a:pPr marL="285750" indent="-285750">
              <a:buFontTx/>
              <a:buChar char="-"/>
            </a:pPr>
            <a:r>
              <a:rPr lang="en-US" dirty="0"/>
              <a:t>Gene sets</a:t>
            </a:r>
          </a:p>
          <a:p>
            <a:pPr marL="285750" indent="-285750">
              <a:buFontTx/>
              <a:buChar char="-"/>
            </a:pPr>
            <a:r>
              <a:rPr lang="en-US" dirty="0"/>
              <a:t>ARG</a:t>
            </a:r>
          </a:p>
          <a:p>
            <a:pPr marL="285750" indent="-285750">
              <a:buFontTx/>
              <a:buChar char="-"/>
            </a:pPr>
            <a:r>
              <a:rPr lang="en-US" dirty="0"/>
              <a:t>Secondary metabolites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6BA3353-67A9-47FB-9F4D-4368BFDBE4D2}"/>
              </a:ext>
            </a:extLst>
          </p:cNvPr>
          <p:cNvSpPr/>
          <p:nvPr/>
        </p:nvSpPr>
        <p:spPr bwMode="auto">
          <a:xfrm rot="10026987">
            <a:off x="4629610" y="3405699"/>
            <a:ext cx="1295400" cy="990600"/>
          </a:xfrm>
          <a:prstGeom prst="arc">
            <a:avLst>
              <a:gd name="adj1" fmla="val 14341778"/>
              <a:gd name="adj2" fmla="val 21238198"/>
            </a:avLst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Noto Sans CJK S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924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Workflow</a:t>
            </a:r>
            <a:endParaRPr b="1" dirty="0"/>
          </a:p>
        </p:txBody>
      </p:sp>
      <p:pic>
        <p:nvPicPr>
          <p:cNvPr id="6" name="Picture 8" descr="https://ionreporter.thermofisher.com/ionreporter/help/GUID-E41D5B5F-C826-411D-8E53-CD93E4AB85C0-screen.png">
            <a:extLst>
              <a:ext uri="{FF2B5EF4-FFF2-40B4-BE49-F238E27FC236}">
                <a16:creationId xmlns:a16="http://schemas.microsoft.com/office/drawing/2014/main" id="{D27D8509-02B7-4A10-B6EF-3F098E3769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6" t="1412" r="27760"/>
          <a:stretch/>
        </p:blipFill>
        <p:spPr bwMode="auto">
          <a:xfrm>
            <a:off x="7672786" y="4585918"/>
            <a:ext cx="1014014" cy="102406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Image result for grouping">
            <a:extLst>
              <a:ext uri="{FF2B5EF4-FFF2-40B4-BE49-F238E27FC236}">
                <a16:creationId xmlns:a16="http://schemas.microsoft.com/office/drawing/2014/main" id="{C460431A-4B16-4F66-B785-496FA895DF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213" b="26277"/>
          <a:stretch/>
        </p:blipFill>
        <p:spPr bwMode="auto">
          <a:xfrm>
            <a:off x="7700865" y="2858905"/>
            <a:ext cx="957857" cy="908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Diagramm 22">
            <a:extLst>
              <a:ext uri="{FF2B5EF4-FFF2-40B4-BE49-F238E27FC236}">
                <a16:creationId xmlns:a16="http://schemas.microsoft.com/office/drawing/2014/main" id="{CF607C04-DD79-4384-80EA-CFEDFD9174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4571108"/>
              </p:ext>
            </p:extLst>
          </p:nvPr>
        </p:nvGraphicFramePr>
        <p:xfrm>
          <a:off x="4605041" y="2058240"/>
          <a:ext cx="1658327" cy="3556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9" name="Picture 9" descr="http://theadvancegroupjobs.com/wp-content/uploads/2016/01/quality-control-stamp-200x167.jpg">
            <a:extLst>
              <a:ext uri="{FF2B5EF4-FFF2-40B4-BE49-F238E27FC236}">
                <a16:creationId xmlns:a16="http://schemas.microsoft.com/office/drawing/2014/main" id="{03E76186-DB76-4066-B650-6CA67BF22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242" y="1990158"/>
            <a:ext cx="952500" cy="79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2BAEEC3-3868-40EE-8731-43FA03C53BBE}"/>
              </a:ext>
            </a:extLst>
          </p:cNvPr>
          <p:cNvGrpSpPr/>
          <p:nvPr/>
        </p:nvGrpSpPr>
        <p:grpSpPr>
          <a:xfrm>
            <a:off x="6418943" y="3656753"/>
            <a:ext cx="1700962" cy="1234083"/>
            <a:chOff x="6328070" y="3506939"/>
            <a:chExt cx="1960467" cy="1384356"/>
          </a:xfrm>
        </p:grpSpPr>
        <p:pic>
          <p:nvPicPr>
            <p:cNvPr id="11" name="Picture 16" descr="Image result for label">
              <a:extLst>
                <a:ext uri="{FF2B5EF4-FFF2-40B4-BE49-F238E27FC236}">
                  <a16:creationId xmlns:a16="http://schemas.microsoft.com/office/drawing/2014/main" id="{4C22625B-D95B-438E-9EB1-BA9101DFCF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8070" y="3506939"/>
              <a:ext cx="1960467" cy="1384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feld 23">
              <a:extLst>
                <a:ext uri="{FF2B5EF4-FFF2-40B4-BE49-F238E27FC236}">
                  <a16:creationId xmlns:a16="http://schemas.microsoft.com/office/drawing/2014/main" id="{DFA2D0D1-502C-45A6-8D12-9F5B33F527A9}"/>
                </a:ext>
              </a:extLst>
            </p:cNvPr>
            <p:cNvSpPr txBox="1"/>
            <p:nvPr/>
          </p:nvSpPr>
          <p:spPr>
            <a:xfrm rot="20932415">
              <a:off x="6663328" y="3822294"/>
              <a:ext cx="1313180" cy="701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800" i="1" dirty="0" err="1">
                  <a:solidFill>
                    <a:schemeClr val="bg1"/>
                  </a:solidFill>
                </a:rPr>
                <a:t>Syntropho</a:t>
              </a:r>
              <a:r>
                <a:rPr lang="de-DE" sz="1800" i="1" dirty="0">
                  <a:solidFill>
                    <a:schemeClr val="bg1"/>
                  </a:solidFill>
                </a:rPr>
                <a:t>-</a:t>
              </a:r>
            </a:p>
            <a:p>
              <a:pPr algn="ctr"/>
              <a:r>
                <a:rPr lang="de-DE" sz="1800" i="1" dirty="0" err="1">
                  <a:solidFill>
                    <a:schemeClr val="bg1"/>
                  </a:solidFill>
                </a:rPr>
                <a:t>bacter</a:t>
              </a:r>
              <a:endParaRPr lang="de-DE" sz="1800" i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3" name="Picture 2" descr="Image result for statistics">
            <a:extLst>
              <a:ext uri="{FF2B5EF4-FFF2-40B4-BE49-F238E27FC236}">
                <a16:creationId xmlns:a16="http://schemas.microsoft.com/office/drawing/2014/main" id="{0A1F92A8-60AC-4E41-95F6-6D6087B88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833" y="5004199"/>
            <a:ext cx="677520" cy="467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DNA sequencing">
            <a:extLst>
              <a:ext uri="{FF2B5EF4-FFF2-40B4-BE49-F238E27FC236}">
                <a16:creationId xmlns:a16="http://schemas.microsoft.com/office/drawing/2014/main" id="{B8EF8133-D2EF-43D0-9679-3B933E5C1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423" y="4718227"/>
            <a:ext cx="1470036" cy="951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Diagramm 31">
            <a:extLst>
              <a:ext uri="{FF2B5EF4-FFF2-40B4-BE49-F238E27FC236}">
                <a16:creationId xmlns:a16="http://schemas.microsoft.com/office/drawing/2014/main" id="{1A7F2A94-A384-4774-9201-A5AC14EFC9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9040633"/>
              </p:ext>
            </p:extLst>
          </p:nvPr>
        </p:nvGraphicFramePr>
        <p:xfrm>
          <a:off x="544459" y="2058240"/>
          <a:ext cx="1470036" cy="3607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pSp>
        <p:nvGrpSpPr>
          <p:cNvPr id="16" name="Gruppieren 32">
            <a:extLst>
              <a:ext uri="{FF2B5EF4-FFF2-40B4-BE49-F238E27FC236}">
                <a16:creationId xmlns:a16="http://schemas.microsoft.com/office/drawing/2014/main" id="{EDAFE9EC-056B-4638-864D-8E11D760F5A4}"/>
              </a:ext>
            </a:extLst>
          </p:cNvPr>
          <p:cNvGrpSpPr/>
          <p:nvPr/>
        </p:nvGrpSpPr>
        <p:grpSpPr>
          <a:xfrm>
            <a:off x="2459700" y="2145141"/>
            <a:ext cx="772469" cy="849433"/>
            <a:chOff x="2171223" y="1318121"/>
            <a:chExt cx="792088" cy="1102648"/>
          </a:xfrm>
        </p:grpSpPr>
        <p:pic>
          <p:nvPicPr>
            <p:cNvPr id="17" name="Picture 4" descr="Image result for fishing rod">
              <a:extLst>
                <a:ext uri="{FF2B5EF4-FFF2-40B4-BE49-F238E27FC236}">
                  <a16:creationId xmlns:a16="http://schemas.microsoft.com/office/drawing/2014/main" id="{B8AF7529-D425-4FD6-A2ED-380AE752C4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5875" y="1318121"/>
              <a:ext cx="477436" cy="865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">
              <a:extLst>
                <a:ext uri="{FF2B5EF4-FFF2-40B4-BE49-F238E27FC236}">
                  <a16:creationId xmlns:a16="http://schemas.microsoft.com/office/drawing/2014/main" id="{6D12A13A-B3F1-49F4-8154-14FF82F0F2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1223" y="1945846"/>
              <a:ext cx="648072" cy="474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79C7294-CD49-47A0-BC72-506AA6C7C1F2}"/>
              </a:ext>
            </a:extLst>
          </p:cNvPr>
          <p:cNvGrpSpPr/>
          <p:nvPr/>
        </p:nvGrpSpPr>
        <p:grpSpPr>
          <a:xfrm>
            <a:off x="2598561" y="3394358"/>
            <a:ext cx="632020" cy="661623"/>
            <a:chOff x="2787266" y="2897552"/>
            <a:chExt cx="1087733" cy="1067697"/>
          </a:xfrm>
        </p:grpSpPr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562DE645-934B-40FE-A115-16E1DE98E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089902">
              <a:off x="2696819" y="2987999"/>
              <a:ext cx="677057" cy="496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2" descr="Image result for Schere">
              <a:extLst>
                <a:ext uri="{FF2B5EF4-FFF2-40B4-BE49-F238E27FC236}">
                  <a16:creationId xmlns:a16="http://schemas.microsoft.com/office/drawing/2014/main" id="{7EF6C8B9-9E2E-40B3-8DB7-02242B00AB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258640">
              <a:off x="2857283" y="2947533"/>
              <a:ext cx="1017716" cy="10177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" name="Picture 4" descr="Bildergebnis für de bruijn graph">
            <a:extLst>
              <a:ext uri="{FF2B5EF4-FFF2-40B4-BE49-F238E27FC236}">
                <a16:creationId xmlns:a16="http://schemas.microsoft.com/office/drawing/2014/main" id="{F151FC38-9AE8-4CE5-A0DD-38B06FBEF8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8" t="15511" r="51345" b="65318"/>
          <a:stretch/>
        </p:blipFill>
        <p:spPr bwMode="auto">
          <a:xfrm>
            <a:off x="6294566" y="3047195"/>
            <a:ext cx="1119352" cy="43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D356596-3318-4982-8F54-6A2F89323F9C}"/>
              </a:ext>
            </a:extLst>
          </p:cNvPr>
          <p:cNvSpPr txBox="1"/>
          <p:nvPr/>
        </p:nvSpPr>
        <p:spPr>
          <a:xfrm>
            <a:off x="3439947" y="6157289"/>
            <a:ext cx="570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METADATA</a:t>
            </a:r>
            <a:r>
              <a:rPr lang="en-US" b="1" dirty="0"/>
              <a:t> is important for downstream analyses 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Wet Lab</a:t>
            </a:r>
            <a:endParaRPr b="1" dirty="0"/>
          </a:p>
        </p:txBody>
      </p:sp>
      <p:pic>
        <p:nvPicPr>
          <p:cNvPr id="14" name="Picture 2" descr="Image result for DNA sequencing">
            <a:extLst>
              <a:ext uri="{FF2B5EF4-FFF2-40B4-BE49-F238E27FC236}">
                <a16:creationId xmlns:a16="http://schemas.microsoft.com/office/drawing/2014/main" id="{B8EF8133-D2EF-43D0-9679-3B933E5C1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423" y="4718227"/>
            <a:ext cx="1470036" cy="951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Diagramm 31">
            <a:extLst>
              <a:ext uri="{FF2B5EF4-FFF2-40B4-BE49-F238E27FC236}">
                <a16:creationId xmlns:a16="http://schemas.microsoft.com/office/drawing/2014/main" id="{1A7F2A94-A384-4774-9201-A5AC14EFC9F9}"/>
              </a:ext>
            </a:extLst>
          </p:cNvPr>
          <p:cNvGraphicFramePr/>
          <p:nvPr>
            <p:extLst/>
          </p:nvPr>
        </p:nvGraphicFramePr>
        <p:xfrm>
          <a:off x="544459" y="2058240"/>
          <a:ext cx="1470036" cy="3607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6" name="Gruppieren 32">
            <a:extLst>
              <a:ext uri="{FF2B5EF4-FFF2-40B4-BE49-F238E27FC236}">
                <a16:creationId xmlns:a16="http://schemas.microsoft.com/office/drawing/2014/main" id="{EDAFE9EC-056B-4638-864D-8E11D760F5A4}"/>
              </a:ext>
            </a:extLst>
          </p:cNvPr>
          <p:cNvGrpSpPr/>
          <p:nvPr/>
        </p:nvGrpSpPr>
        <p:grpSpPr>
          <a:xfrm>
            <a:off x="2459700" y="2145141"/>
            <a:ext cx="772469" cy="849433"/>
            <a:chOff x="2171223" y="1318121"/>
            <a:chExt cx="792088" cy="1102648"/>
          </a:xfrm>
        </p:grpSpPr>
        <p:pic>
          <p:nvPicPr>
            <p:cNvPr id="17" name="Picture 4" descr="Image result for fishing rod">
              <a:extLst>
                <a:ext uri="{FF2B5EF4-FFF2-40B4-BE49-F238E27FC236}">
                  <a16:creationId xmlns:a16="http://schemas.microsoft.com/office/drawing/2014/main" id="{B8AF7529-D425-4FD6-A2ED-380AE752C4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5875" y="1318121"/>
              <a:ext cx="477436" cy="865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">
              <a:extLst>
                <a:ext uri="{FF2B5EF4-FFF2-40B4-BE49-F238E27FC236}">
                  <a16:creationId xmlns:a16="http://schemas.microsoft.com/office/drawing/2014/main" id="{6D12A13A-B3F1-49F4-8154-14FF82F0F2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1223" y="1945846"/>
              <a:ext cx="648072" cy="474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79C7294-CD49-47A0-BC72-506AA6C7C1F2}"/>
              </a:ext>
            </a:extLst>
          </p:cNvPr>
          <p:cNvGrpSpPr/>
          <p:nvPr/>
        </p:nvGrpSpPr>
        <p:grpSpPr>
          <a:xfrm>
            <a:off x="2598561" y="3394358"/>
            <a:ext cx="632020" cy="661623"/>
            <a:chOff x="2787266" y="2897552"/>
            <a:chExt cx="1087733" cy="1067697"/>
          </a:xfrm>
        </p:grpSpPr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562DE645-934B-40FE-A115-16E1DE98E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089902">
              <a:off x="2696819" y="2987999"/>
              <a:ext cx="677057" cy="496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2" descr="Image result for Schere">
              <a:extLst>
                <a:ext uri="{FF2B5EF4-FFF2-40B4-BE49-F238E27FC236}">
                  <a16:creationId xmlns:a16="http://schemas.microsoft.com/office/drawing/2014/main" id="{7EF6C8B9-9E2E-40B3-8DB7-02242B00AB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258640">
              <a:off x="2857283" y="2947533"/>
              <a:ext cx="1017716" cy="10177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Textfeld 1">
            <a:extLst>
              <a:ext uri="{FF2B5EF4-FFF2-40B4-BE49-F238E27FC236}">
                <a16:creationId xmlns:a16="http://schemas.microsoft.com/office/drawing/2014/main" id="{561D59CD-2C70-4877-B8A7-42F70E727C92}"/>
              </a:ext>
            </a:extLst>
          </p:cNvPr>
          <p:cNvSpPr txBox="1"/>
          <p:nvPr/>
        </p:nvSpPr>
        <p:spPr>
          <a:xfrm>
            <a:off x="4995790" y="2369403"/>
            <a:ext cx="3337211" cy="2949525"/>
          </a:xfrm>
          <a:prstGeom prst="rect">
            <a:avLst/>
          </a:prstGeom>
          <a:noFill/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800" b="1" dirty="0" err="1"/>
              <a:t>Physical</a:t>
            </a:r>
            <a:r>
              <a:rPr lang="de-DE" sz="1800" b="1" dirty="0"/>
              <a:t>:</a:t>
            </a:r>
            <a:r>
              <a:rPr lang="de-DE" sz="18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 err="1"/>
              <a:t>Sonication</a:t>
            </a:r>
            <a:r>
              <a:rPr lang="de-DE" sz="1800" dirty="0"/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 err="1"/>
              <a:t>Hydrodynamic</a:t>
            </a:r>
            <a:r>
              <a:rPr lang="de-DE" sz="1800" dirty="0"/>
              <a:t> </a:t>
            </a:r>
            <a:r>
              <a:rPr lang="de-DE" sz="1800" dirty="0" err="1"/>
              <a:t>shearing</a:t>
            </a: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 b="1" dirty="0" err="1"/>
              <a:t>Enzymatic</a:t>
            </a:r>
            <a:r>
              <a:rPr lang="de-DE" sz="1800" b="1" dirty="0"/>
              <a:t>:</a:t>
            </a:r>
            <a:r>
              <a:rPr lang="de-DE" sz="18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 err="1"/>
              <a:t>Transposase</a:t>
            </a:r>
            <a:r>
              <a:rPr lang="de-DE" sz="1800" dirty="0"/>
              <a:t>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 err="1"/>
              <a:t>Dnase</a:t>
            </a:r>
            <a:r>
              <a:rPr lang="de-DE" sz="1800" dirty="0"/>
              <a:t>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 err="1"/>
              <a:t>Restriction</a:t>
            </a:r>
            <a:r>
              <a:rPr lang="de-DE" sz="1800" dirty="0"/>
              <a:t> </a:t>
            </a:r>
            <a:r>
              <a:rPr lang="de-DE" sz="1800" dirty="0" err="1"/>
              <a:t>endonuclease</a:t>
            </a:r>
            <a:endParaRPr lang="de-DE" sz="18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5DA0959-8C8E-45DF-9FC6-99CF0B89FB60}"/>
              </a:ext>
            </a:extLst>
          </p:cNvPr>
          <p:cNvGrpSpPr/>
          <p:nvPr/>
        </p:nvGrpSpPr>
        <p:grpSpPr>
          <a:xfrm>
            <a:off x="936740" y="1481190"/>
            <a:ext cx="7452924" cy="1628216"/>
            <a:chOff x="936740" y="487726"/>
            <a:chExt cx="7452924" cy="162821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F584C08-9624-433F-83F4-DFFC30E031D1}"/>
                </a:ext>
              </a:extLst>
            </p:cNvPr>
            <p:cNvSpPr txBox="1"/>
            <p:nvPr/>
          </p:nvSpPr>
          <p:spPr>
            <a:xfrm>
              <a:off x="3904865" y="487726"/>
              <a:ext cx="4484799" cy="779316"/>
            </a:xfrm>
            <a:prstGeom prst="rect">
              <a:avLst/>
            </a:prstGeom>
            <a:solidFill>
              <a:srgbClr val="FFFFFF"/>
            </a:solidFill>
            <a:ln w="4762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</a:rPr>
                <a:t>Take care in sample handling </a:t>
              </a:r>
              <a:r>
                <a:rPr lang="en-US" sz="2400" b="1" dirty="0">
                  <a:solidFill>
                    <a:srgbClr val="C00000"/>
                  </a:solidFill>
                  <a:sym typeface="Wingdings" panose="05000000000000000000" pitchFamily="2" charset="2"/>
                </a:rPr>
                <a:t> Contamination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DF60A7FC-488A-4DCE-B75F-81737B4F30FD}"/>
                </a:ext>
              </a:extLst>
            </p:cNvPr>
            <p:cNvSpPr/>
            <p:nvPr/>
          </p:nvSpPr>
          <p:spPr bwMode="auto">
            <a:xfrm rot="19668976">
              <a:off x="936740" y="1112053"/>
              <a:ext cx="3189132" cy="1003889"/>
            </a:xfrm>
            <a:prstGeom prst="arc">
              <a:avLst>
                <a:gd name="adj1" fmla="val 16200000"/>
                <a:gd name="adj2" fmla="val 21093434"/>
              </a:avLst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57200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Noto Sans CJK SC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05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A45E3F-A170-44C7-865D-5E6657A98AD3}"/>
              </a:ext>
            </a:extLst>
          </p:cNvPr>
          <p:cNvSpPr txBox="1"/>
          <p:nvPr/>
        </p:nvSpPr>
        <p:spPr>
          <a:xfrm>
            <a:off x="152400" y="438150"/>
            <a:ext cx="5867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 err="1"/>
              <a:t>Sequencing</a:t>
            </a:r>
            <a:endParaRPr lang="en-US" sz="4400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6846950-CC23-438A-B933-C8ED7FC4C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963" y="1532752"/>
            <a:ext cx="746442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 reads (50 – 300 bases)</a:t>
            </a:r>
          </a:p>
          <a:p>
            <a:pPr lvl="1" indent="0" defTabSz="914400" eaLnBrk="0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US" altLang="en-US" dirty="0"/>
              <a:t> Illumina</a:t>
            </a:r>
          </a:p>
          <a:p>
            <a:pPr lvl="1" indent="0" defTabSz="914400" eaLnBrk="0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US" altLang="en-US" dirty="0"/>
              <a:t> Ion Torrent</a:t>
            </a:r>
          </a:p>
          <a:p>
            <a:pPr lvl="1" indent="0" defTabSz="914400" eaLnBrk="0">
              <a:lnSpc>
                <a:spcPct val="100000"/>
              </a:lnSpc>
              <a:buClrTx/>
              <a:buSzTx/>
              <a:buFontTx/>
              <a:buChar char="•"/>
            </a:pPr>
            <a:endParaRPr lang="en-US" altLang="en-US" dirty="0"/>
          </a:p>
          <a:p>
            <a:pPr lvl="1" indent="0" defTabSz="914400" eaLnBrk="0">
              <a:lnSpc>
                <a:spcPct val="100000"/>
              </a:lnSpc>
              <a:buClrTx/>
              <a:buSzTx/>
            </a:pPr>
            <a:endParaRPr lang="en-US" altLang="en-US" dirty="0"/>
          </a:p>
          <a:p>
            <a:pPr lvl="1" indent="0" defTabSz="914400" eaLnBrk="0">
              <a:lnSpc>
                <a:spcPct val="100000"/>
              </a:lnSpc>
              <a:buClrTx/>
              <a:buSzTx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 reads (&gt;</a:t>
            </a:r>
            <a:r>
              <a:rPr kumimoji="0" lang="en-US" alt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 Kilo bases)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indent="0" defTabSz="914400" eaLnBrk="0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US" altLang="en-US" b="1" dirty="0"/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PacBio</a:t>
            </a:r>
          </a:p>
          <a:p>
            <a:pPr lvl="1" indent="0" defTabSz="914400" eaLnBrk="0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US" altLang="en-US" dirty="0"/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Oxford Nanopore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EAF098-7FC2-4A22-86F2-C9CF1C64D9B2}"/>
              </a:ext>
            </a:extLst>
          </p:cNvPr>
          <p:cNvSpPr txBox="1"/>
          <p:nvPr/>
        </p:nvSpPr>
        <p:spPr>
          <a:xfrm>
            <a:off x="5523155" y="1207591"/>
            <a:ext cx="3314457" cy="3416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Pros</a:t>
            </a:r>
          </a:p>
          <a:p>
            <a:pPr marL="285750" indent="-285750">
              <a:buFontTx/>
              <a:buChar char="-"/>
            </a:pPr>
            <a:r>
              <a:rPr lang="en-US" dirty="0"/>
              <a:t>Widely available</a:t>
            </a:r>
          </a:p>
          <a:p>
            <a:pPr marL="285750" indent="-285750">
              <a:buFontTx/>
              <a:buChar char="-"/>
            </a:pPr>
            <a:r>
              <a:rPr lang="en-US" dirty="0"/>
              <a:t>High accuracy</a:t>
            </a:r>
          </a:p>
          <a:p>
            <a:pPr marL="285750" indent="-285750">
              <a:buFontTx/>
              <a:buChar char="-"/>
            </a:pPr>
            <a:r>
              <a:rPr lang="en-US" dirty="0"/>
              <a:t>Lower cost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u="sng" dirty="0"/>
              <a:t>Cons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Repetitive regions hamper gene sequencing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Mapping reads to specific regions of reference genomes might not be possible due to small size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989FA9-8B7A-4B87-963A-32BD1F2282DC}"/>
              </a:ext>
            </a:extLst>
          </p:cNvPr>
          <p:cNvCxnSpPr/>
          <p:nvPr/>
        </p:nvCxnSpPr>
        <p:spPr bwMode="auto">
          <a:xfrm>
            <a:off x="4015175" y="1962150"/>
            <a:ext cx="1090225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3EF9AC-3DF3-4BB7-AA90-F87DBCF9D5C4}"/>
              </a:ext>
            </a:extLst>
          </p:cNvPr>
          <p:cNvCxnSpPr/>
          <p:nvPr/>
        </p:nvCxnSpPr>
        <p:spPr bwMode="auto">
          <a:xfrm>
            <a:off x="4019247" y="3559139"/>
            <a:ext cx="1090225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33969A-DE26-449F-9804-CE1C6E9B3DF6}"/>
              </a:ext>
            </a:extLst>
          </p:cNvPr>
          <p:cNvSpPr txBox="1"/>
          <p:nvPr/>
        </p:nvSpPr>
        <p:spPr>
          <a:xfrm>
            <a:off x="5536425" y="1864790"/>
            <a:ext cx="3314457" cy="28623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Pros</a:t>
            </a:r>
          </a:p>
          <a:p>
            <a:pPr marL="285750" indent="-285750">
              <a:buFontTx/>
              <a:buChar char="-"/>
            </a:pPr>
            <a:r>
              <a:rPr lang="en-US" dirty="0"/>
              <a:t>Ability to read highly repetitive regions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Higher taxonomic resolution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High accuracy</a:t>
            </a:r>
          </a:p>
          <a:p>
            <a:pPr marL="285750" indent="-285750">
              <a:buFontTx/>
              <a:buChar char="-"/>
            </a:pPr>
            <a:r>
              <a:rPr lang="en-US" dirty="0"/>
              <a:t>Portability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u="sng" dirty="0"/>
              <a:t>Cons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DNA quantity</a:t>
            </a:r>
          </a:p>
          <a:p>
            <a:pPr marL="285750" indent="-285750">
              <a:buFontTx/>
              <a:buChar char="-"/>
            </a:pPr>
            <a:r>
              <a:rPr lang="en-US" dirty="0"/>
              <a:t>Cost</a:t>
            </a:r>
          </a:p>
        </p:txBody>
      </p:sp>
      <p:sp>
        <p:nvSpPr>
          <p:cNvPr id="10" name="Textfeld 7">
            <a:extLst>
              <a:ext uri="{FF2B5EF4-FFF2-40B4-BE49-F238E27FC236}">
                <a16:creationId xmlns:a16="http://schemas.microsoft.com/office/drawing/2014/main" id="{87043816-3469-412A-9427-BF5A031D9942}"/>
              </a:ext>
            </a:extLst>
          </p:cNvPr>
          <p:cNvSpPr txBox="1"/>
          <p:nvPr/>
        </p:nvSpPr>
        <p:spPr>
          <a:xfrm>
            <a:off x="503944" y="4892594"/>
            <a:ext cx="7186647" cy="1696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Depth: </a:t>
            </a:r>
            <a:r>
              <a:rPr lang="de-DE" dirty="0"/>
              <a:t># </a:t>
            </a:r>
            <a:r>
              <a:rPr lang="de-DE" dirty="0" err="1"/>
              <a:t>times</a:t>
            </a:r>
            <a:r>
              <a:rPr lang="de-DE" dirty="0"/>
              <a:t> a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base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DNA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read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sequencing</a:t>
            </a:r>
            <a:endParaRPr lang="de-DE" dirty="0"/>
          </a:p>
          <a:p>
            <a:pPr marL="1028700" lvl="1">
              <a:buFontTx/>
              <a:buChar char="-"/>
            </a:pPr>
            <a:endParaRPr lang="de-DE" dirty="0"/>
          </a:p>
          <a:p>
            <a:pPr marL="1028700" lvl="1">
              <a:lnSpc>
                <a:spcPct val="150000"/>
              </a:lnSpc>
              <a:buFontTx/>
              <a:buChar char="-"/>
            </a:pPr>
            <a:r>
              <a:rPr lang="de-DE" dirty="0"/>
              <a:t>The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depth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confidence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accuracy</a:t>
            </a:r>
            <a:endParaRPr lang="de-DE" dirty="0"/>
          </a:p>
          <a:p>
            <a:pPr marL="1028700" lvl="1">
              <a:lnSpc>
                <a:spcPct val="150000"/>
              </a:lnSpc>
              <a:buFontTx/>
              <a:buChar char="-"/>
            </a:pPr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errors</a:t>
            </a:r>
            <a:r>
              <a:rPr lang="de-DE" dirty="0"/>
              <a:t> and </a:t>
            </a:r>
            <a:r>
              <a:rPr lang="de-DE" dirty="0" err="1"/>
              <a:t>noise</a:t>
            </a:r>
            <a:endParaRPr lang="de-DE" sz="1800" b="1" dirty="0"/>
          </a:p>
          <a:p>
            <a:pPr marL="1028700" lvl="1">
              <a:buFontTx/>
              <a:buChar char="-"/>
            </a:pPr>
            <a:endParaRPr lang="de-DE" b="1" dirty="0"/>
          </a:p>
        </p:txBody>
      </p:sp>
      <p:sp>
        <p:nvSpPr>
          <p:cNvPr id="11" name="Textfeld 7">
            <a:extLst>
              <a:ext uri="{FF2B5EF4-FFF2-40B4-BE49-F238E27FC236}">
                <a16:creationId xmlns:a16="http://schemas.microsoft.com/office/drawing/2014/main" id="{BAED82AA-422E-4788-ADD2-FC3747B46B52}"/>
              </a:ext>
            </a:extLst>
          </p:cNvPr>
          <p:cNvSpPr txBox="1"/>
          <p:nvPr/>
        </p:nvSpPr>
        <p:spPr>
          <a:xfrm>
            <a:off x="503944" y="4892594"/>
            <a:ext cx="7545655" cy="16449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Coverage: </a:t>
            </a:r>
            <a:r>
              <a:rPr lang="de-DE" dirty="0"/>
              <a:t>%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genome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been</a:t>
            </a:r>
            <a:r>
              <a:rPr lang="de-DE" dirty="0"/>
              <a:t> </a:t>
            </a:r>
            <a:r>
              <a:rPr lang="de-DE" dirty="0" err="1"/>
              <a:t>sequenced</a:t>
            </a:r>
            <a:r>
              <a:rPr lang="de-DE" dirty="0"/>
              <a:t> at a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b="1" dirty="0" err="1"/>
              <a:t>depth</a:t>
            </a:r>
            <a:r>
              <a:rPr lang="de-DE" b="1" dirty="0"/>
              <a:t> </a:t>
            </a:r>
          </a:p>
          <a:p>
            <a:r>
              <a:rPr lang="de-DE" b="1" dirty="0"/>
              <a:t>                   </a:t>
            </a:r>
            <a:r>
              <a:rPr lang="de-DE" i="1" dirty="0"/>
              <a:t>at least</a:t>
            </a:r>
            <a:r>
              <a:rPr lang="de-DE" b="1" i="1" dirty="0"/>
              <a:t> </a:t>
            </a:r>
            <a:r>
              <a:rPr lang="de-DE" i="1" dirty="0" err="1"/>
              <a:t>once</a:t>
            </a:r>
            <a:endParaRPr lang="de-DE" i="1" dirty="0"/>
          </a:p>
          <a:p>
            <a:pPr marL="1028700" lvl="1">
              <a:buFontTx/>
              <a:buChar char="-"/>
            </a:pPr>
            <a:endParaRPr lang="de-DE" dirty="0"/>
          </a:p>
          <a:p>
            <a:pPr marL="1028700" lvl="1">
              <a:lnSpc>
                <a:spcPct val="150000"/>
              </a:lnSpc>
              <a:buFontTx/>
              <a:buChar char="-"/>
            </a:pPr>
            <a:r>
              <a:rPr lang="de-DE" dirty="0"/>
              <a:t>The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coverage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proportion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genome</a:t>
            </a:r>
            <a:r>
              <a:rPr lang="de-DE" dirty="0"/>
              <a:t> </a:t>
            </a:r>
          </a:p>
          <a:p>
            <a:pPr lvl="1" indent="0">
              <a:lnSpc>
                <a:spcPct val="150000"/>
              </a:lnSpc>
            </a:pPr>
            <a:r>
              <a:rPr lang="de-DE" dirty="0"/>
              <a:t>    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been</a:t>
            </a:r>
            <a:r>
              <a:rPr lang="de-DE" dirty="0"/>
              <a:t> </a:t>
            </a:r>
            <a:r>
              <a:rPr lang="de-DE" dirty="0" err="1"/>
              <a:t>sequenced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290708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10" grpId="0"/>
      <p:bldP spid="10" grpId="1"/>
      <p:bldP spid="11" grpId="0"/>
      <p:bldP spid="1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www.safaribooksonline.com/library/view/bioinformatics-with-r/9781783283132/graphics/3132OS_08_03.jpg">
            <a:extLst>
              <a:ext uri="{FF2B5EF4-FFF2-40B4-BE49-F238E27FC236}">
                <a16:creationId xmlns:a16="http://schemas.microsoft.com/office/drawing/2014/main" id="{5802C16A-7863-4EC4-92CD-589F64A30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429" y="3509029"/>
            <a:ext cx="3611146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D194A2A-901F-4068-AF0B-24D27AC744DA}"/>
              </a:ext>
            </a:extLst>
          </p:cNvPr>
          <p:cNvSpPr txBox="1">
            <a:spLocks/>
          </p:cNvSpPr>
          <p:nvPr/>
        </p:nvSpPr>
        <p:spPr>
          <a:xfrm>
            <a:off x="184604" y="2248888"/>
            <a:ext cx="8062664" cy="576064"/>
          </a:xfrm>
          <a:prstGeom prst="rect">
            <a:avLst/>
          </a:prstGeom>
        </p:spPr>
        <p:txBody>
          <a:bodyPr/>
          <a:lstStyle>
            <a:lvl1pPr marL="342900" indent="-342900" algn="l" defTabSz="457200" rtl="0" fontAlgn="base" hangingPunct="0">
              <a:lnSpc>
                <a:spcPct val="93000"/>
              </a:lnSpc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ts val="11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ts val="8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ts val="57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tx1"/>
                </a:solidFill>
              </a:rPr>
              <a:t>De-</a:t>
            </a:r>
            <a:r>
              <a:rPr lang="de-DE" dirty="0" err="1">
                <a:solidFill>
                  <a:schemeClr val="tx1"/>
                </a:solidFill>
              </a:rPr>
              <a:t>multiplexed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fastq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files</a:t>
            </a:r>
            <a:r>
              <a:rPr lang="de-DE" dirty="0">
                <a:solidFill>
                  <a:schemeClr val="tx1"/>
                </a:solidFill>
              </a:rPr>
              <a:t> (2 per sample)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CCE47DAD-D4A6-447E-9494-FDFAB27A8FE3}"/>
              </a:ext>
            </a:extLst>
          </p:cNvPr>
          <p:cNvSpPr txBox="1">
            <a:spLocks/>
          </p:cNvSpPr>
          <p:nvPr/>
        </p:nvSpPr>
        <p:spPr bwMode="auto">
          <a:xfrm>
            <a:off x="4782458" y="3021398"/>
            <a:ext cx="1436613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-66" charset="2"/>
              <a:defRPr sz="26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-66" charset="2"/>
              <a:defRPr sz="26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-66" charset="2"/>
              <a:defRPr sz="26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-66" charset="2"/>
              <a:defRPr sz="26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-66" charset="2"/>
              <a:defRPr sz="26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-66" charset="2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-66" charset="2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-66" charset="2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-66" charset="2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kern="0" dirty="0">
                <a:solidFill>
                  <a:schemeClr val="tx1"/>
                </a:solidFill>
              </a:rPr>
              <a:t>FASTQ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D94E670-1ABE-4583-9E5F-2AC3778A5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04" y="2974019"/>
            <a:ext cx="2180122" cy="198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CA3299-0168-41FC-8C3F-BBA7F2A773CF}"/>
              </a:ext>
            </a:extLst>
          </p:cNvPr>
          <p:cNvSpPr txBox="1"/>
          <p:nvPr/>
        </p:nvSpPr>
        <p:spPr>
          <a:xfrm>
            <a:off x="1174031" y="438150"/>
            <a:ext cx="67959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 err="1"/>
              <a:t>Sequencing</a:t>
            </a:r>
            <a:r>
              <a:rPr lang="de-DE" sz="4400" b="1" dirty="0"/>
              <a:t> </a:t>
            </a:r>
            <a:r>
              <a:rPr lang="de-DE" sz="4400" b="1" dirty="0" err="1"/>
              <a:t>Machine</a:t>
            </a:r>
            <a:r>
              <a:rPr lang="de-DE" sz="4400" b="1" dirty="0"/>
              <a:t> </a:t>
            </a:r>
            <a:r>
              <a:rPr lang="de-DE" sz="4400" b="1" dirty="0" err="1"/>
              <a:t>output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184659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93C1AF-0303-4965-B835-07659145A4E3}"/>
              </a:ext>
            </a:extLst>
          </p:cNvPr>
          <p:cNvSpPr txBox="1"/>
          <p:nvPr/>
        </p:nvSpPr>
        <p:spPr>
          <a:xfrm>
            <a:off x="543503" y="704759"/>
            <a:ext cx="80569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/>
              <a:t>Pre-processing / library assembly</a:t>
            </a:r>
            <a:endParaRPr lang="en-US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309C0-5D54-4AB7-B88D-97F733F894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62" t="8203" r="17246" b="73464"/>
          <a:stretch/>
        </p:blipFill>
        <p:spPr>
          <a:xfrm>
            <a:off x="5068359" y="2859882"/>
            <a:ext cx="3735819" cy="990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CC3A57-E37B-48BD-8607-B1CBC378CE2F}"/>
              </a:ext>
            </a:extLst>
          </p:cNvPr>
          <p:cNvSpPr txBox="1"/>
          <p:nvPr/>
        </p:nvSpPr>
        <p:spPr>
          <a:xfrm>
            <a:off x="418139" y="2135982"/>
            <a:ext cx="4509995" cy="278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dirty="0"/>
              <a:t>Read QC – </a:t>
            </a:r>
            <a:r>
              <a:rPr lang="de-DE" dirty="0" err="1"/>
              <a:t>metaWrap</a:t>
            </a:r>
            <a:r>
              <a:rPr lang="de-DE" dirty="0"/>
              <a:t>, </a:t>
            </a:r>
            <a:r>
              <a:rPr lang="de-DE" dirty="0" err="1"/>
              <a:t>FastQC</a:t>
            </a:r>
            <a:r>
              <a:rPr lang="de-DE" dirty="0"/>
              <a:t>, QUAST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Trimming</a:t>
            </a:r>
            <a:r>
              <a:rPr lang="de-DE" dirty="0"/>
              <a:t> – </a:t>
            </a:r>
            <a:r>
              <a:rPr lang="de-DE" dirty="0" err="1"/>
              <a:t>TrimGalore</a:t>
            </a:r>
            <a:r>
              <a:rPr lang="de-DE" dirty="0"/>
              <a:t>, </a:t>
            </a:r>
            <a:r>
              <a:rPr lang="de-DE" dirty="0" err="1"/>
              <a:t>Trimmomatic</a:t>
            </a:r>
            <a:endParaRPr lang="de-DE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dirty="0"/>
              <a:t>Human contamination removal – bmtagger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dirty="0"/>
              <a:t>Assembly – </a:t>
            </a:r>
            <a:r>
              <a:rPr lang="de-DE" dirty="0" err="1"/>
              <a:t>metaSpades</a:t>
            </a:r>
            <a:r>
              <a:rPr lang="de-DE" dirty="0"/>
              <a:t>, Megahit, </a:t>
            </a:r>
            <a:r>
              <a:rPr lang="de-DE" dirty="0" err="1"/>
              <a:t>Unicycler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9AAFD-50A1-4C8D-A9CD-00BD86F883B1}"/>
              </a:ext>
            </a:extLst>
          </p:cNvPr>
          <p:cNvSpPr txBox="1"/>
          <p:nvPr/>
        </p:nvSpPr>
        <p:spPr>
          <a:xfrm>
            <a:off x="5449260" y="3943259"/>
            <a:ext cx="3276600" cy="235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>
                <a:hlinkClick r:id="rId4"/>
              </a:rPr>
              <a:t>https://github.com/mdsufz/MuDoGeR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>
            <a:normAutofit/>
          </a:bodyPr>
          <a:lstStyle/>
          <a:p>
            <a:r>
              <a:rPr lang="en-US" b="1" dirty="0"/>
              <a:t>Quality control</a:t>
            </a:r>
            <a:endParaRPr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994CA6-3B5F-4447-A18F-9DDEDD0EB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1417638"/>
            <a:ext cx="6191250" cy="463867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7258B9B-54FE-4F33-887E-2E942BC57912}"/>
              </a:ext>
            </a:extLst>
          </p:cNvPr>
          <p:cNvGrpSpPr/>
          <p:nvPr/>
        </p:nvGrpSpPr>
        <p:grpSpPr>
          <a:xfrm>
            <a:off x="1602558" y="1551602"/>
            <a:ext cx="7780748" cy="4460982"/>
            <a:chOff x="1602558" y="1551602"/>
            <a:chExt cx="7780748" cy="446098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B84B3F-C1D2-4749-BDB2-0780B7188F07}"/>
                </a:ext>
              </a:extLst>
            </p:cNvPr>
            <p:cNvSpPr txBox="1"/>
            <p:nvPr/>
          </p:nvSpPr>
          <p:spPr>
            <a:xfrm>
              <a:off x="7575812" y="5625668"/>
              <a:ext cx="1589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Read length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FE96780-EFD3-4567-A961-670685FAF9B8}"/>
                </a:ext>
              </a:extLst>
            </p:cNvPr>
            <p:cNvSpPr/>
            <p:nvPr/>
          </p:nvSpPr>
          <p:spPr>
            <a:xfrm>
              <a:off x="7313137" y="5608084"/>
              <a:ext cx="262675" cy="404500"/>
            </a:xfrm>
            <a:prstGeom prst="roundRect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E2A9E3-58AA-475E-B85E-0F5C52DB7ECC}"/>
                </a:ext>
              </a:extLst>
            </p:cNvPr>
            <p:cNvSpPr txBox="1"/>
            <p:nvPr/>
          </p:nvSpPr>
          <p:spPr>
            <a:xfrm>
              <a:off x="7793808" y="1551602"/>
              <a:ext cx="1589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Median QS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157C874-36E6-4A93-BC1C-EF344D06BA3D}"/>
                </a:ext>
              </a:extLst>
            </p:cNvPr>
            <p:cNvSpPr/>
            <p:nvPr/>
          </p:nvSpPr>
          <p:spPr>
            <a:xfrm>
              <a:off x="1602558" y="1668544"/>
              <a:ext cx="6065068" cy="135448"/>
            </a:xfrm>
            <a:prstGeom prst="roundRect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4B05BAF-7DED-4077-B5B4-1B6062BD8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1429563"/>
            <a:ext cx="8210550" cy="455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>
            <a:normAutofit/>
          </a:bodyPr>
          <a:lstStyle/>
          <a:p>
            <a:r>
              <a:rPr b="1" dirty="0"/>
              <a:t>Trimming and Filtering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670DDC-3102-4948-B017-584CA4D36469}"/>
              </a:ext>
            </a:extLst>
          </p:cNvPr>
          <p:cNvGrpSpPr/>
          <p:nvPr/>
        </p:nvGrpSpPr>
        <p:grpSpPr>
          <a:xfrm>
            <a:off x="2531515" y="1417638"/>
            <a:ext cx="4500070" cy="4962578"/>
            <a:chOff x="2038350" y="752422"/>
            <a:chExt cx="4500070" cy="496257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C4033C7-233E-4EEA-826C-0C135D133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8350" y="752422"/>
              <a:ext cx="4500070" cy="496257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8C961F0-488A-4704-92EB-7A2B6FFA23AA}"/>
                </a:ext>
              </a:extLst>
            </p:cNvPr>
            <p:cNvSpPr/>
            <p:nvPr/>
          </p:nvSpPr>
          <p:spPr>
            <a:xfrm>
              <a:off x="2680926" y="5345668"/>
              <a:ext cx="32149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https://carpentries-lab.github.io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E9573B-6B81-45B4-A6A5-71B53A6E6FE4}"/>
              </a:ext>
            </a:extLst>
          </p:cNvPr>
          <p:cNvGrpSpPr/>
          <p:nvPr/>
        </p:nvGrpSpPr>
        <p:grpSpPr>
          <a:xfrm>
            <a:off x="721894" y="1750947"/>
            <a:ext cx="6874358" cy="3356106"/>
            <a:chOff x="80872" y="1750947"/>
            <a:chExt cx="6874358" cy="335610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9C8772-E0E3-4F55-881C-C7815E274ADD}"/>
                </a:ext>
              </a:extLst>
            </p:cNvPr>
            <p:cNvSpPr txBox="1"/>
            <p:nvPr/>
          </p:nvSpPr>
          <p:spPr>
            <a:xfrm>
              <a:off x="80872" y="2625163"/>
              <a:ext cx="191225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/>
                <a:t>Phred</a:t>
              </a:r>
              <a:r>
                <a:rPr lang="en-US" b="1" dirty="0"/>
                <a:t> Score </a:t>
              </a:r>
              <a:r>
                <a:rPr lang="en-US" dirty="0"/>
                <a:t>is a measure of the quality of a base call in DNA sequencing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D71A203-AC84-4688-B56C-5D3EC302C4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23358"/>
            <a:stretch/>
          </p:blipFill>
          <p:spPr>
            <a:xfrm>
              <a:off x="2455160" y="1750947"/>
              <a:ext cx="4500070" cy="33561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48169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>
            <a:normAutofit/>
          </a:bodyPr>
          <a:lstStyle/>
          <a:p>
            <a:r>
              <a:rPr lang="en-US" b="1" dirty="0"/>
              <a:t>Assembly</a:t>
            </a:r>
            <a:endParaRPr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332042-6AF3-40A3-A62B-19D958A64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7" y="1322173"/>
            <a:ext cx="7899662" cy="500147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D3C213-1D0C-467A-B137-AB381367AD2D}"/>
              </a:ext>
            </a:extLst>
          </p:cNvPr>
          <p:cNvSpPr/>
          <p:nvPr/>
        </p:nvSpPr>
        <p:spPr>
          <a:xfrm>
            <a:off x="5145123" y="6138981"/>
            <a:ext cx="28507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https://avantonder.github.io</a:t>
            </a:r>
          </a:p>
        </p:txBody>
      </p:sp>
    </p:spTree>
    <p:extLst>
      <p:ext uri="{BB962C8B-B14F-4D97-AF65-F5344CB8AC3E}">
        <p14:creationId xmlns:p14="http://schemas.microsoft.com/office/powerpoint/2010/main" val="4020983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83745"/>
            <a:ext cx="8686800" cy="1143000"/>
          </a:xfrm>
        </p:spPr>
        <p:txBody>
          <a:bodyPr>
            <a:normAutofit/>
          </a:bodyPr>
          <a:lstStyle/>
          <a:p>
            <a:r>
              <a:rPr lang="en-US" b="1" dirty="0"/>
              <a:t>Assembly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054A9-7152-40A2-952F-D6148D7A9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85" y="1244338"/>
            <a:ext cx="5797230" cy="51894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C0D432-2662-401A-945B-1DD15B990371}"/>
              </a:ext>
            </a:extLst>
          </p:cNvPr>
          <p:cNvSpPr/>
          <p:nvPr/>
        </p:nvSpPr>
        <p:spPr>
          <a:xfrm>
            <a:off x="2681925" y="6497256"/>
            <a:ext cx="524601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https://carpentries-lab.github.io/metagenomics-analysis/fig/03-04-01.png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E465C8B-31BD-4157-AC38-169D2D60C3FC}"/>
              </a:ext>
            </a:extLst>
          </p:cNvPr>
          <p:cNvGrpSpPr/>
          <p:nvPr/>
        </p:nvGrpSpPr>
        <p:grpSpPr>
          <a:xfrm>
            <a:off x="6146276" y="6120353"/>
            <a:ext cx="2997724" cy="313441"/>
            <a:chOff x="6146276" y="6120353"/>
            <a:chExt cx="2997724" cy="31344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3A3752D-32BE-469F-AF84-9E667A111F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180" t="11228" r="69514" b="42456"/>
            <a:stretch/>
          </p:blipFill>
          <p:spPr>
            <a:xfrm>
              <a:off x="7598004" y="6120353"/>
              <a:ext cx="1545996" cy="311084"/>
            </a:xfrm>
            <a:prstGeom prst="rect">
              <a:avLst/>
            </a:prstGeom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8DAFE32-8B57-4003-8723-9CCA3100CE12}"/>
                </a:ext>
              </a:extLst>
            </p:cNvPr>
            <p:cNvSpPr/>
            <p:nvPr/>
          </p:nvSpPr>
          <p:spPr>
            <a:xfrm>
              <a:off x="6146276" y="6120353"/>
              <a:ext cx="980388" cy="313441"/>
            </a:xfrm>
            <a:prstGeom prst="round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7C0DA2BD-9F89-43C2-919F-A57DEE20E1D7}"/>
                </a:ext>
              </a:extLst>
            </p:cNvPr>
            <p:cNvSpPr/>
            <p:nvPr/>
          </p:nvSpPr>
          <p:spPr>
            <a:xfrm>
              <a:off x="7315200" y="6175401"/>
              <a:ext cx="282804" cy="200319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7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CFC0F8-FAA0-438D-93F7-CE0CE8C05F0B}"/>
              </a:ext>
            </a:extLst>
          </p:cNvPr>
          <p:cNvSpPr txBox="1"/>
          <p:nvPr/>
        </p:nvSpPr>
        <p:spPr>
          <a:xfrm>
            <a:off x="340174" y="3676140"/>
            <a:ext cx="84636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N50 length is calculated by:</a:t>
            </a:r>
          </a:p>
          <a:p>
            <a:r>
              <a:rPr lang="en-GB" dirty="0"/>
              <a:t>	1. sorting the contigs by length from longest to shortest; </a:t>
            </a:r>
          </a:p>
          <a:p>
            <a:r>
              <a:rPr lang="en-GB" dirty="0"/>
              <a:t>	2. starting from the longest contig, sum the lengths of each contig </a:t>
            </a:r>
          </a:p>
          <a:p>
            <a:pPr lvl="1"/>
            <a:r>
              <a:rPr lang="en-GB" dirty="0"/>
              <a:t>3. when this running sum equals one-half of the total length of all contigs in the assembly… </a:t>
            </a:r>
          </a:p>
          <a:p>
            <a:pPr lvl="1" algn="ctr"/>
            <a:endParaRPr lang="en-GB" dirty="0"/>
          </a:p>
          <a:p>
            <a:pPr lvl="1" algn="ctr"/>
            <a:r>
              <a:rPr lang="en-GB" b="1" dirty="0"/>
              <a:t>The length of the shortest contig in this list is the N50.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C8827-7AD1-419A-8943-020CC8C79551}"/>
              </a:ext>
            </a:extLst>
          </p:cNvPr>
          <p:cNvSpPr txBox="1"/>
          <p:nvPr/>
        </p:nvSpPr>
        <p:spPr>
          <a:xfrm>
            <a:off x="483915" y="1010307"/>
            <a:ext cx="8463651" cy="918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404040"/>
                </a:solidFill>
                <a:effectLst/>
                <a:latin typeface="DeepSeek-CJK-patch"/>
              </a:rPr>
              <a:t>The N50 value in genome assembly is the length of the shortest contig or scaffold at which 50% of the total assembly length is contained in contigs or scaffolds of that size or longer.</a:t>
            </a:r>
            <a:endParaRPr lang="en-GB" b="1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1FFD68C-1E2E-4CDA-806E-4873E68BD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16" y="1995293"/>
            <a:ext cx="7989768" cy="161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BCE2CF9-323B-40F1-ACCE-944228422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766" y="60094"/>
            <a:ext cx="8686800" cy="1143000"/>
          </a:xfrm>
        </p:spPr>
        <p:txBody>
          <a:bodyPr>
            <a:normAutofit/>
          </a:bodyPr>
          <a:lstStyle/>
          <a:p>
            <a:r>
              <a:rPr lang="en-US" b="1" dirty="0"/>
              <a:t>N50 value</a:t>
            </a:r>
            <a:endParaRPr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8F528-96B3-478C-B3AB-FFAD97B0E47F}"/>
              </a:ext>
            </a:extLst>
          </p:cNvPr>
          <p:cNvSpPr txBox="1"/>
          <p:nvPr/>
        </p:nvSpPr>
        <p:spPr>
          <a:xfrm>
            <a:off x="126460" y="5814864"/>
            <a:ext cx="88910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High N50 values = contiguous and complete genome</a:t>
            </a:r>
          </a:p>
        </p:txBody>
      </p:sp>
    </p:spTree>
    <p:extLst>
      <p:ext uri="{BB962C8B-B14F-4D97-AF65-F5344CB8AC3E}">
        <p14:creationId xmlns:p14="http://schemas.microsoft.com/office/powerpoint/2010/main" val="138919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508584B2-B41F-4796-9326-C7062176FBCD}"/>
              </a:ext>
            </a:extLst>
          </p:cNvPr>
          <p:cNvGrpSpPr/>
          <p:nvPr/>
        </p:nvGrpSpPr>
        <p:grpSpPr>
          <a:xfrm>
            <a:off x="786947" y="2039118"/>
            <a:ext cx="8001000" cy="1855788"/>
            <a:chOff x="786947" y="2039118"/>
            <a:chExt cx="8001000" cy="1855788"/>
          </a:xfrm>
        </p:grpSpPr>
        <p:sp>
          <p:nvSpPr>
            <p:cNvPr id="4" name="Left-Right Arrow 7">
              <a:extLst>
                <a:ext uri="{FF2B5EF4-FFF2-40B4-BE49-F238E27FC236}">
                  <a16:creationId xmlns:a16="http://schemas.microsoft.com/office/drawing/2014/main" id="{5FE2D61C-993F-4553-9474-65D405511E75}"/>
                </a:ext>
              </a:extLst>
            </p:cNvPr>
            <p:cNvSpPr/>
            <p:nvPr/>
          </p:nvSpPr>
          <p:spPr>
            <a:xfrm>
              <a:off x="786947" y="2915418"/>
              <a:ext cx="8001000" cy="53340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chemeClr val="bg1"/>
                  </a:solidFill>
                </a:rPr>
                <a:t>Genome</a:t>
              </a:r>
            </a:p>
          </p:txBody>
        </p:sp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18CF0FB5-235A-4DBF-94B0-79269E0EF63E}"/>
                </a:ext>
              </a:extLst>
            </p:cNvPr>
            <p:cNvSpPr/>
            <p:nvPr/>
          </p:nvSpPr>
          <p:spPr>
            <a:xfrm>
              <a:off x="7187747" y="29154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1F4BD7EC-97B8-4B87-B901-77B6E28ED394}"/>
                </a:ext>
              </a:extLst>
            </p:cNvPr>
            <p:cNvSpPr/>
            <p:nvPr/>
          </p:nvSpPr>
          <p:spPr>
            <a:xfrm>
              <a:off x="1472747" y="29154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10">
              <a:extLst>
                <a:ext uri="{FF2B5EF4-FFF2-40B4-BE49-F238E27FC236}">
                  <a16:creationId xmlns:a16="http://schemas.microsoft.com/office/drawing/2014/main" id="{8409D07D-9C8C-4C43-8240-3355A13C46B7}"/>
                </a:ext>
              </a:extLst>
            </p:cNvPr>
            <p:cNvSpPr/>
            <p:nvPr/>
          </p:nvSpPr>
          <p:spPr>
            <a:xfrm>
              <a:off x="2996747" y="29154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5E83F92F-3215-4FD3-B3D5-4D6FB18D19E0}"/>
                </a:ext>
              </a:extLst>
            </p:cNvPr>
            <p:cNvSpPr/>
            <p:nvPr/>
          </p:nvSpPr>
          <p:spPr>
            <a:xfrm>
              <a:off x="3911147" y="29154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4BB43E40-A163-48E9-BC3B-B71C0BDF8B27}"/>
                </a:ext>
              </a:extLst>
            </p:cNvPr>
            <p:cNvSpPr/>
            <p:nvPr/>
          </p:nvSpPr>
          <p:spPr>
            <a:xfrm>
              <a:off x="2693535" y="27630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13">
              <a:extLst>
                <a:ext uri="{FF2B5EF4-FFF2-40B4-BE49-F238E27FC236}">
                  <a16:creationId xmlns:a16="http://schemas.microsoft.com/office/drawing/2014/main" id="{458E377C-6FC6-4D9D-9EDC-44F122FAF879}"/>
                </a:ext>
              </a:extLst>
            </p:cNvPr>
            <p:cNvSpPr/>
            <p:nvPr/>
          </p:nvSpPr>
          <p:spPr>
            <a:xfrm>
              <a:off x="3149147" y="26106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D505BDBD-C39C-4CE6-8337-50F63BCDF6EF}"/>
                </a:ext>
              </a:extLst>
            </p:cNvPr>
            <p:cNvSpPr/>
            <p:nvPr/>
          </p:nvSpPr>
          <p:spPr>
            <a:xfrm>
              <a:off x="3741285" y="27630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49DF4C47-8182-454D-A565-88222F8E8FC4}"/>
                </a:ext>
              </a:extLst>
            </p:cNvPr>
            <p:cNvSpPr/>
            <p:nvPr/>
          </p:nvSpPr>
          <p:spPr>
            <a:xfrm>
              <a:off x="2196647" y="29154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6">
              <a:extLst>
                <a:ext uri="{FF2B5EF4-FFF2-40B4-BE49-F238E27FC236}">
                  <a16:creationId xmlns:a16="http://schemas.microsoft.com/office/drawing/2014/main" id="{516901E8-65CC-467A-8EE1-A2B8E62A7CCA}"/>
                </a:ext>
              </a:extLst>
            </p:cNvPr>
            <p:cNvSpPr/>
            <p:nvPr/>
          </p:nvSpPr>
          <p:spPr>
            <a:xfrm>
              <a:off x="2006147" y="27630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Rectangle 17">
              <a:extLst>
                <a:ext uri="{FF2B5EF4-FFF2-40B4-BE49-F238E27FC236}">
                  <a16:creationId xmlns:a16="http://schemas.microsoft.com/office/drawing/2014/main" id="{5B537780-E389-4D5F-81F1-7CA2574ED67B}"/>
                </a:ext>
              </a:extLst>
            </p:cNvPr>
            <p:cNvSpPr/>
            <p:nvPr/>
          </p:nvSpPr>
          <p:spPr>
            <a:xfrm>
              <a:off x="5892347" y="29154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9832E3E3-3B77-460A-93CC-B94BB538010B}"/>
                </a:ext>
              </a:extLst>
            </p:cNvPr>
            <p:cNvSpPr/>
            <p:nvPr/>
          </p:nvSpPr>
          <p:spPr>
            <a:xfrm>
              <a:off x="7797347" y="27630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B8931CFB-D0FA-4A72-A212-2CE0FB3692FE}"/>
                </a:ext>
              </a:extLst>
            </p:cNvPr>
            <p:cNvSpPr/>
            <p:nvPr/>
          </p:nvSpPr>
          <p:spPr>
            <a:xfrm>
              <a:off x="4673147" y="29154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20">
              <a:extLst>
                <a:ext uri="{FF2B5EF4-FFF2-40B4-BE49-F238E27FC236}">
                  <a16:creationId xmlns:a16="http://schemas.microsoft.com/office/drawing/2014/main" id="{E4512640-7F65-497B-AE01-64A680CC7AAD}"/>
                </a:ext>
              </a:extLst>
            </p:cNvPr>
            <p:cNvSpPr/>
            <p:nvPr/>
          </p:nvSpPr>
          <p:spPr>
            <a:xfrm>
              <a:off x="6273347" y="27630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Rectangle 22">
              <a:extLst>
                <a:ext uri="{FF2B5EF4-FFF2-40B4-BE49-F238E27FC236}">
                  <a16:creationId xmlns:a16="http://schemas.microsoft.com/office/drawing/2014/main" id="{7B491C22-9589-4F9D-9B7F-ED8A373FC689}"/>
                </a:ext>
              </a:extLst>
            </p:cNvPr>
            <p:cNvSpPr/>
            <p:nvPr/>
          </p:nvSpPr>
          <p:spPr>
            <a:xfrm>
              <a:off x="2387147" y="2599506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Rectangle 23">
              <a:extLst>
                <a:ext uri="{FF2B5EF4-FFF2-40B4-BE49-F238E27FC236}">
                  <a16:creationId xmlns:a16="http://schemas.microsoft.com/office/drawing/2014/main" id="{6D2461F2-5099-47C0-8FCE-8FEA4B02BBC4}"/>
                </a:ext>
              </a:extLst>
            </p:cNvPr>
            <p:cNvSpPr/>
            <p:nvPr/>
          </p:nvSpPr>
          <p:spPr>
            <a:xfrm>
              <a:off x="7035347" y="27630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Rectangle 24">
              <a:extLst>
                <a:ext uri="{FF2B5EF4-FFF2-40B4-BE49-F238E27FC236}">
                  <a16:creationId xmlns:a16="http://schemas.microsoft.com/office/drawing/2014/main" id="{49900819-C73C-451F-BD30-1C597CCEEF5D}"/>
                </a:ext>
              </a:extLst>
            </p:cNvPr>
            <p:cNvSpPr/>
            <p:nvPr/>
          </p:nvSpPr>
          <p:spPr>
            <a:xfrm>
              <a:off x="1983922" y="2491556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Rectangle 25">
              <a:extLst>
                <a:ext uri="{FF2B5EF4-FFF2-40B4-BE49-F238E27FC236}">
                  <a16:creationId xmlns:a16="http://schemas.microsoft.com/office/drawing/2014/main" id="{31BBDCCC-D5CA-496D-B27F-1EA246620F84}"/>
                </a:ext>
              </a:extLst>
            </p:cNvPr>
            <p:cNvSpPr/>
            <p:nvPr/>
          </p:nvSpPr>
          <p:spPr>
            <a:xfrm>
              <a:off x="7416347" y="23439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385AA49F-9D74-4F3B-B600-237828BB3FF2}"/>
                </a:ext>
              </a:extLst>
            </p:cNvPr>
            <p:cNvSpPr/>
            <p:nvPr/>
          </p:nvSpPr>
          <p:spPr>
            <a:xfrm>
              <a:off x="7416347" y="26106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Rectangle 27">
              <a:extLst>
                <a:ext uri="{FF2B5EF4-FFF2-40B4-BE49-F238E27FC236}">
                  <a16:creationId xmlns:a16="http://schemas.microsoft.com/office/drawing/2014/main" id="{ABFBAD29-CD5C-4AF1-807D-C264812CFA71}"/>
                </a:ext>
              </a:extLst>
            </p:cNvPr>
            <p:cNvSpPr/>
            <p:nvPr/>
          </p:nvSpPr>
          <p:spPr>
            <a:xfrm>
              <a:off x="2920547" y="24582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Rectangle 28">
              <a:extLst>
                <a:ext uri="{FF2B5EF4-FFF2-40B4-BE49-F238E27FC236}">
                  <a16:creationId xmlns:a16="http://schemas.microsoft.com/office/drawing/2014/main" id="{A0732F40-D126-4A10-BCCB-45F2DB3C0DF5}"/>
                </a:ext>
              </a:extLst>
            </p:cNvPr>
            <p:cNvSpPr/>
            <p:nvPr/>
          </p:nvSpPr>
          <p:spPr>
            <a:xfrm>
              <a:off x="6730547" y="26106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5" name="Rectangle 29">
              <a:extLst>
                <a:ext uri="{FF2B5EF4-FFF2-40B4-BE49-F238E27FC236}">
                  <a16:creationId xmlns:a16="http://schemas.microsoft.com/office/drawing/2014/main" id="{959B8504-92D4-4671-A8BA-47F5FEC1FB25}"/>
                </a:ext>
              </a:extLst>
            </p:cNvPr>
            <p:cNvSpPr/>
            <p:nvPr/>
          </p:nvSpPr>
          <p:spPr>
            <a:xfrm>
              <a:off x="1277485" y="2491556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" name="Rectangle 30">
              <a:extLst>
                <a:ext uri="{FF2B5EF4-FFF2-40B4-BE49-F238E27FC236}">
                  <a16:creationId xmlns:a16="http://schemas.microsoft.com/office/drawing/2014/main" id="{E3DD8E01-2F92-48E9-AEF4-079EA3C8D74A}"/>
                </a:ext>
              </a:extLst>
            </p:cNvPr>
            <p:cNvSpPr/>
            <p:nvPr/>
          </p:nvSpPr>
          <p:spPr>
            <a:xfrm>
              <a:off x="1221922" y="27630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" name="Rectangle 31">
              <a:extLst>
                <a:ext uri="{FF2B5EF4-FFF2-40B4-BE49-F238E27FC236}">
                  <a16:creationId xmlns:a16="http://schemas.microsoft.com/office/drawing/2014/main" id="{74EF7111-6F92-47FF-9EC7-FB6FE2E69712}"/>
                </a:ext>
              </a:extLst>
            </p:cNvPr>
            <p:cNvSpPr/>
            <p:nvPr/>
          </p:nvSpPr>
          <p:spPr>
            <a:xfrm>
              <a:off x="7721147" y="24582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" name="Rectangle 32">
              <a:extLst>
                <a:ext uri="{FF2B5EF4-FFF2-40B4-BE49-F238E27FC236}">
                  <a16:creationId xmlns:a16="http://schemas.microsoft.com/office/drawing/2014/main" id="{0A3DE95A-232A-4525-A7BB-D123A9409054}"/>
                </a:ext>
              </a:extLst>
            </p:cNvPr>
            <p:cNvSpPr/>
            <p:nvPr/>
          </p:nvSpPr>
          <p:spPr>
            <a:xfrm>
              <a:off x="7035347" y="24582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Rectangle 33">
              <a:extLst>
                <a:ext uri="{FF2B5EF4-FFF2-40B4-BE49-F238E27FC236}">
                  <a16:creationId xmlns:a16="http://schemas.microsoft.com/office/drawing/2014/main" id="{CBD745F1-2236-4687-A03B-2AEA39AC2C39}"/>
                </a:ext>
              </a:extLst>
            </p:cNvPr>
            <p:cNvSpPr/>
            <p:nvPr/>
          </p:nvSpPr>
          <p:spPr>
            <a:xfrm>
              <a:off x="2158547" y="2305818"/>
              <a:ext cx="609600" cy="762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0" name="Straight Arrow Connector 34">
              <a:extLst>
                <a:ext uri="{FF2B5EF4-FFF2-40B4-BE49-F238E27FC236}">
                  <a16:creationId xmlns:a16="http://schemas.microsoft.com/office/drawing/2014/main" id="{C98673E2-F39E-4AC6-9DF2-DE3E4EB7554B}"/>
                </a:ext>
              </a:extLst>
            </p:cNvPr>
            <p:cNvCxnSpPr/>
            <p:nvPr/>
          </p:nvCxnSpPr>
          <p:spPr>
            <a:xfrm>
              <a:off x="2463347" y="2039118"/>
              <a:ext cx="0" cy="14478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5">
              <a:extLst>
                <a:ext uri="{FF2B5EF4-FFF2-40B4-BE49-F238E27FC236}">
                  <a16:creationId xmlns:a16="http://schemas.microsoft.com/office/drawing/2014/main" id="{5E3BFB1B-AEA3-4F98-8950-724256DAEFCB}"/>
                </a:ext>
              </a:extLst>
            </p:cNvPr>
            <p:cNvCxnSpPr/>
            <p:nvPr/>
          </p:nvCxnSpPr>
          <p:spPr>
            <a:xfrm>
              <a:off x="3072947" y="2039118"/>
              <a:ext cx="0" cy="14478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6">
              <a:extLst>
                <a:ext uri="{FF2B5EF4-FFF2-40B4-BE49-F238E27FC236}">
                  <a16:creationId xmlns:a16="http://schemas.microsoft.com/office/drawing/2014/main" id="{BEDA5F39-5805-4587-8B41-D4FD2F2981F3}"/>
                </a:ext>
              </a:extLst>
            </p:cNvPr>
            <p:cNvCxnSpPr/>
            <p:nvPr/>
          </p:nvCxnSpPr>
          <p:spPr>
            <a:xfrm>
              <a:off x="5663747" y="2039118"/>
              <a:ext cx="0" cy="14478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7">
              <a:extLst>
                <a:ext uri="{FF2B5EF4-FFF2-40B4-BE49-F238E27FC236}">
                  <a16:creationId xmlns:a16="http://schemas.microsoft.com/office/drawing/2014/main" id="{019083E1-7C82-4727-AD89-5216D78FA3E9}"/>
                </a:ext>
              </a:extLst>
            </p:cNvPr>
            <p:cNvCxnSpPr/>
            <p:nvPr/>
          </p:nvCxnSpPr>
          <p:spPr>
            <a:xfrm>
              <a:off x="7263947" y="2077218"/>
              <a:ext cx="0" cy="14478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8">
              <a:extLst>
                <a:ext uri="{FF2B5EF4-FFF2-40B4-BE49-F238E27FC236}">
                  <a16:creationId xmlns:a16="http://schemas.microsoft.com/office/drawing/2014/main" id="{C8569AFB-9E41-464A-8B2B-1957D0E45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4147" y="3525018"/>
              <a:ext cx="6781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 altLang="it-IT"/>
                <a:t>Coverage    5          3                  2                           0       1                   4</a:t>
              </a:r>
            </a:p>
          </p:txBody>
        </p:sp>
        <p:cxnSp>
          <p:nvCxnSpPr>
            <p:cNvPr id="35" name="Straight Arrow Connector 39">
              <a:extLst>
                <a:ext uri="{FF2B5EF4-FFF2-40B4-BE49-F238E27FC236}">
                  <a16:creationId xmlns:a16="http://schemas.microsoft.com/office/drawing/2014/main" id="{F5A16D55-D3D3-4AFE-A9E6-E55EF5C6D6DD}"/>
                </a:ext>
              </a:extLst>
            </p:cNvPr>
            <p:cNvCxnSpPr/>
            <p:nvPr/>
          </p:nvCxnSpPr>
          <p:spPr>
            <a:xfrm>
              <a:off x="6120947" y="2039118"/>
              <a:ext cx="0" cy="14478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40">
              <a:extLst>
                <a:ext uri="{FF2B5EF4-FFF2-40B4-BE49-F238E27FC236}">
                  <a16:creationId xmlns:a16="http://schemas.microsoft.com/office/drawing/2014/main" id="{660F26BB-AF41-4D2C-8698-1A243D46B0E3}"/>
                </a:ext>
              </a:extLst>
            </p:cNvPr>
            <p:cNvCxnSpPr/>
            <p:nvPr/>
          </p:nvCxnSpPr>
          <p:spPr>
            <a:xfrm>
              <a:off x="4139747" y="2039118"/>
              <a:ext cx="0" cy="14478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ttangolo 37">
            <a:extLst>
              <a:ext uri="{FF2B5EF4-FFF2-40B4-BE49-F238E27FC236}">
                <a16:creationId xmlns:a16="http://schemas.microsoft.com/office/drawing/2014/main" id="{E1273011-56AA-40BD-86FE-7B5171B12EC2}"/>
              </a:ext>
            </a:extLst>
          </p:cNvPr>
          <p:cNvSpPr/>
          <p:nvPr/>
        </p:nvSpPr>
        <p:spPr>
          <a:xfrm>
            <a:off x="215449" y="1053489"/>
            <a:ext cx="87131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COVERAGE (a.k.a. read depth or depth)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/>
              <a:t>the average number of reads representing a given nucleotide in the reconstructed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FC12245C-1D9B-4AC0-B496-AB77CB0A8BA0}"/>
                  </a:ext>
                </a:extLst>
              </p:cNvPr>
              <p:cNvSpPr txBox="1"/>
              <p:nvPr/>
            </p:nvSpPr>
            <p:spPr>
              <a:xfrm>
                <a:off x="886581" y="4502158"/>
                <a:ext cx="2239131" cy="899157"/>
              </a:xfrm>
              <a:prstGeom prst="rect">
                <a:avLst/>
              </a:prstGeom>
              <a:noFill/>
              <a:ln w="57150">
                <a:solidFill>
                  <a:srgbClr val="0F418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𝐶𝑜𝑣</m:t>
                      </m:r>
                      <m:r>
                        <a:rPr lang="it-IT" sz="2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𝑁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𝐿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FC12245C-1D9B-4AC0-B496-AB77CB0A8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81" y="4502158"/>
                <a:ext cx="2239131" cy="8991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rgbClr val="0F418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ttangolo 40">
            <a:extLst>
              <a:ext uri="{FF2B5EF4-FFF2-40B4-BE49-F238E27FC236}">
                <a16:creationId xmlns:a16="http://schemas.microsoft.com/office/drawing/2014/main" id="{EF4AABC6-6844-49BD-BC55-BF3A7C438375}"/>
              </a:ext>
            </a:extLst>
          </p:cNvPr>
          <p:cNvSpPr/>
          <p:nvPr/>
        </p:nvSpPr>
        <p:spPr>
          <a:xfrm>
            <a:off x="4701703" y="4322364"/>
            <a:ext cx="34132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G: Length of the genome</a:t>
            </a:r>
          </a:p>
          <a:p>
            <a:r>
              <a:rPr lang="en-US" sz="2400" dirty="0"/>
              <a:t>N: Number of reads</a:t>
            </a:r>
          </a:p>
          <a:p>
            <a:r>
              <a:rPr lang="en-US" sz="2400" dirty="0"/>
              <a:t>L: Average read length</a:t>
            </a:r>
            <a:endParaRPr lang="it-IT" sz="240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B88C4D1-F2FA-49FA-91F7-57F5824E0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3745"/>
            <a:ext cx="8686800" cy="1143000"/>
          </a:xfrm>
        </p:spPr>
        <p:txBody>
          <a:bodyPr>
            <a:normAutofit/>
          </a:bodyPr>
          <a:lstStyle/>
          <a:p>
            <a:r>
              <a:rPr lang="en-US" b="1" dirty="0"/>
              <a:t>Depth of coverage</a:t>
            </a:r>
            <a:endParaRPr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652939-C151-4CED-AE6C-C4E001FF86A2}"/>
              </a:ext>
            </a:extLst>
          </p:cNvPr>
          <p:cNvSpPr txBox="1"/>
          <p:nvPr/>
        </p:nvSpPr>
        <p:spPr>
          <a:xfrm>
            <a:off x="126460" y="5814864"/>
            <a:ext cx="88910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Contigs with similar coverage profiles = same organism.</a:t>
            </a:r>
          </a:p>
        </p:txBody>
      </p:sp>
    </p:spTree>
    <p:extLst>
      <p:ext uri="{BB962C8B-B14F-4D97-AF65-F5344CB8AC3E}">
        <p14:creationId xmlns:p14="http://schemas.microsoft.com/office/powerpoint/2010/main" val="16950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/>
      <p:bldP spid="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2505DCF-F5A8-483F-B7F2-CD50611F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3745"/>
            <a:ext cx="8686800" cy="1143000"/>
          </a:xfrm>
        </p:spPr>
        <p:txBody>
          <a:bodyPr>
            <a:normAutofit/>
          </a:bodyPr>
          <a:lstStyle/>
          <a:p>
            <a:r>
              <a:rPr lang="en-US" b="1" dirty="0"/>
              <a:t>Mapping raw reads to contigs</a:t>
            </a:r>
            <a:endParaRPr b="1" dirty="0"/>
          </a:p>
        </p:txBody>
      </p:sp>
      <p:sp>
        <p:nvSpPr>
          <p:cNvPr id="5" name="Sottotitolo 11">
            <a:extLst>
              <a:ext uri="{FF2B5EF4-FFF2-40B4-BE49-F238E27FC236}">
                <a16:creationId xmlns:a16="http://schemas.microsoft.com/office/drawing/2014/main" id="{41ABEACC-B1B7-48E4-BAA7-BB000080AF37}"/>
              </a:ext>
            </a:extLst>
          </p:cNvPr>
          <p:cNvSpPr txBox="1">
            <a:spLocks/>
          </p:cNvSpPr>
          <p:nvPr/>
        </p:nvSpPr>
        <p:spPr>
          <a:xfrm>
            <a:off x="357053" y="1453414"/>
            <a:ext cx="8286433" cy="5066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Quality assessment of the assembly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200" dirty="0"/>
              <a:t>Assess how well the assembly represents the original data by checking the percentage of reads that align.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200" dirty="0"/>
              <a:t>Identify regions that could indicate assembly errors.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Quantifying coverage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200" dirty="0"/>
              <a:t>Compute coverage per contig (how well-covered each contig is by the original reads).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200" dirty="0"/>
              <a:t>Estimate relative abundance of organisms in the metagenomic sample, as contigs with higher coverage may represent more abundant organisms.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Downstream analysis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200" dirty="0"/>
              <a:t>Identify variants (e.g., SNPs) in the mapped reads</a:t>
            </a:r>
            <a:endParaRPr lang="en-US" sz="2200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727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83745"/>
            <a:ext cx="8686800" cy="1143000"/>
          </a:xfrm>
        </p:spPr>
        <p:txBody>
          <a:bodyPr>
            <a:normAutofit/>
          </a:bodyPr>
          <a:lstStyle/>
          <a:p>
            <a:r>
              <a:rPr lang="en-US" b="1" dirty="0"/>
              <a:t>Binning</a:t>
            </a:r>
            <a:endParaRPr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C0D432-2662-401A-945B-1DD15B990371}"/>
              </a:ext>
            </a:extLst>
          </p:cNvPr>
          <p:cNvSpPr/>
          <p:nvPr/>
        </p:nvSpPr>
        <p:spPr>
          <a:xfrm>
            <a:off x="570321" y="6082477"/>
            <a:ext cx="524601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https://carpentries-lab.github.io/metagenomics-analysis/fig/03-05-01.png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D28A6-CB86-4BA4-B621-ABE96A746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63" y="1564850"/>
            <a:ext cx="2804412" cy="406800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9981E50-EFA8-4222-944D-3843A298E7DF}"/>
              </a:ext>
            </a:extLst>
          </p:cNvPr>
          <p:cNvGrpSpPr/>
          <p:nvPr/>
        </p:nvGrpSpPr>
        <p:grpSpPr>
          <a:xfrm>
            <a:off x="4751109" y="1778292"/>
            <a:ext cx="2969442" cy="858521"/>
            <a:chOff x="4751109" y="1778292"/>
            <a:chExt cx="2969442" cy="85852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B9F3BA4-8EDB-4FC1-8DF2-62D318EF5206}"/>
                </a:ext>
              </a:extLst>
            </p:cNvPr>
            <p:cNvGrpSpPr/>
            <p:nvPr/>
          </p:nvGrpSpPr>
          <p:grpSpPr>
            <a:xfrm>
              <a:off x="4854803" y="2267481"/>
              <a:ext cx="2865748" cy="369332"/>
              <a:chOff x="4854803" y="1926095"/>
              <a:chExt cx="2865748" cy="369332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809BD04-718A-44C9-A05C-AA7A9AFD73CD}"/>
                  </a:ext>
                </a:extLst>
              </p:cNvPr>
              <p:cNvGrpSpPr/>
              <p:nvPr/>
            </p:nvGrpSpPr>
            <p:grpSpPr>
              <a:xfrm>
                <a:off x="4854803" y="1954040"/>
                <a:ext cx="1451728" cy="313441"/>
                <a:chOff x="6146276" y="6120353"/>
                <a:chExt cx="1451728" cy="313441"/>
              </a:xfrm>
            </p:grpSpPr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9EDC9A50-DEFF-4286-8E23-B30CA1650D91}"/>
                    </a:ext>
                  </a:extLst>
                </p:cNvPr>
                <p:cNvSpPr/>
                <p:nvPr/>
              </p:nvSpPr>
              <p:spPr>
                <a:xfrm>
                  <a:off x="6146276" y="6120353"/>
                  <a:ext cx="980388" cy="313441"/>
                </a:xfrm>
                <a:prstGeom prst="roundRect">
                  <a:avLst/>
                </a:prstGeom>
                <a:noFill/>
                <a:ln w="317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Arrow: Right 14">
                  <a:extLst>
                    <a:ext uri="{FF2B5EF4-FFF2-40B4-BE49-F238E27FC236}">
                      <a16:creationId xmlns:a16="http://schemas.microsoft.com/office/drawing/2014/main" id="{55527B25-9584-464F-913F-A3708A8861C7}"/>
                    </a:ext>
                  </a:extLst>
                </p:cNvPr>
                <p:cNvSpPr/>
                <p:nvPr/>
              </p:nvSpPr>
              <p:spPr>
                <a:xfrm>
                  <a:off x="7315200" y="6175401"/>
                  <a:ext cx="282804" cy="200319"/>
                </a:xfrm>
                <a:prstGeom prst="rightArrow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B7E04E-F7AF-420C-B9BE-6839F14A3367}"/>
                  </a:ext>
                </a:extLst>
              </p:cNvPr>
              <p:cNvSpPr txBox="1"/>
              <p:nvPr/>
            </p:nvSpPr>
            <p:spPr>
              <a:xfrm>
                <a:off x="6381945" y="1926095"/>
                <a:ext cx="1338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Taxonomy</a:t>
                </a: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168C5F2-5389-4AD3-B3B6-0BAB5309A8C2}"/>
                  </a:ext>
                </a:extLst>
              </p:cNvPr>
              <p:cNvCxnSpPr/>
              <p:nvPr/>
            </p:nvCxnSpPr>
            <p:spPr>
              <a:xfrm>
                <a:off x="4920792" y="2009088"/>
                <a:ext cx="245097" cy="0"/>
              </a:xfrm>
              <a:prstGeom prst="line">
                <a:avLst/>
              </a:prstGeom>
              <a:ln>
                <a:solidFill>
                  <a:srgbClr val="0F418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507DADC-B2C0-4C24-AA06-97666BFB8D8F}"/>
                  </a:ext>
                </a:extLst>
              </p:cNvPr>
              <p:cNvCxnSpPr/>
              <p:nvPr/>
            </p:nvCxnSpPr>
            <p:spPr>
              <a:xfrm>
                <a:off x="5043340" y="2209407"/>
                <a:ext cx="245097" cy="0"/>
              </a:xfrm>
              <a:prstGeom prst="line">
                <a:avLst/>
              </a:prstGeom>
              <a:ln>
                <a:solidFill>
                  <a:srgbClr val="0F418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499AF1D-4796-4AC9-8E36-303C14C375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8309" y="2109247"/>
                <a:ext cx="598601" cy="1514"/>
              </a:xfrm>
              <a:prstGeom prst="line">
                <a:avLst/>
              </a:prstGeom>
              <a:ln>
                <a:solidFill>
                  <a:srgbClr val="E8D1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30A35B4-9423-45C1-8F20-4B401E3BC9F4}"/>
                </a:ext>
              </a:extLst>
            </p:cNvPr>
            <p:cNvSpPr txBox="1"/>
            <p:nvPr/>
          </p:nvSpPr>
          <p:spPr>
            <a:xfrm>
              <a:off x="4751109" y="1778292"/>
              <a:ext cx="19136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Possible: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26D2C55-1636-4367-BD69-CD2400039BFD}"/>
              </a:ext>
            </a:extLst>
          </p:cNvPr>
          <p:cNvGrpSpPr/>
          <p:nvPr/>
        </p:nvGrpSpPr>
        <p:grpSpPr>
          <a:xfrm>
            <a:off x="4751109" y="2868280"/>
            <a:ext cx="2908106" cy="1332805"/>
            <a:chOff x="4751109" y="3254779"/>
            <a:chExt cx="2908106" cy="133280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9A81C8-C386-4B0A-8423-A1BED969049F}"/>
                </a:ext>
              </a:extLst>
            </p:cNvPr>
            <p:cNvSpPr txBox="1"/>
            <p:nvPr/>
          </p:nvSpPr>
          <p:spPr>
            <a:xfrm>
              <a:off x="4854803" y="3664254"/>
              <a:ext cx="2804412" cy="923330"/>
            </a:xfrm>
            <a:prstGeom prst="rect">
              <a:avLst/>
            </a:prstGeom>
            <a:noFill/>
            <a:ln w="19050">
              <a:solidFill>
                <a:srgbClr val="0F4186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dirty="0"/>
                <a:t>GC Content</a:t>
              </a:r>
            </a:p>
            <a:p>
              <a:pPr marL="285750" indent="-285750">
                <a:buFontTx/>
                <a:buChar char="-"/>
              </a:pPr>
              <a:r>
                <a:rPr lang="en-US" dirty="0"/>
                <a:t>Tetranucleotide freq.</a:t>
              </a:r>
            </a:p>
            <a:p>
              <a:pPr marL="285750" indent="-285750">
                <a:buFontTx/>
                <a:buChar char="-"/>
              </a:pPr>
              <a:r>
                <a:rPr lang="en-US" dirty="0"/>
                <a:t>Coverage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962E2E-B0D8-4DAE-9D85-CAEA8DBD13AF}"/>
                </a:ext>
              </a:extLst>
            </p:cNvPr>
            <p:cNvSpPr txBox="1"/>
            <p:nvPr/>
          </p:nvSpPr>
          <p:spPr>
            <a:xfrm>
              <a:off x="4751109" y="3254779"/>
              <a:ext cx="19136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Advisable: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F5DC62B-107C-419D-B557-EC6FF1AFBC12}"/>
              </a:ext>
            </a:extLst>
          </p:cNvPr>
          <p:cNvGrpSpPr/>
          <p:nvPr/>
        </p:nvGrpSpPr>
        <p:grpSpPr>
          <a:xfrm>
            <a:off x="886120" y="4732256"/>
            <a:ext cx="3266627" cy="1053002"/>
            <a:chOff x="886120" y="4732256"/>
            <a:chExt cx="3266627" cy="1053002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B4A2D40-B46C-4373-BFCF-37758572E8B0}"/>
                </a:ext>
              </a:extLst>
            </p:cNvPr>
            <p:cNvSpPr/>
            <p:nvPr/>
          </p:nvSpPr>
          <p:spPr>
            <a:xfrm>
              <a:off x="886120" y="4732256"/>
              <a:ext cx="1715678" cy="560894"/>
            </a:xfrm>
            <a:prstGeom prst="ellipse">
              <a:avLst/>
            </a:prstGeom>
            <a:noFill/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B6B9C7C-4BA9-4262-97F7-80A047DA4785}"/>
                </a:ext>
              </a:extLst>
            </p:cNvPr>
            <p:cNvSpPr/>
            <p:nvPr/>
          </p:nvSpPr>
          <p:spPr>
            <a:xfrm>
              <a:off x="2437069" y="4884656"/>
              <a:ext cx="1715678" cy="560894"/>
            </a:xfrm>
            <a:prstGeom prst="ellipse">
              <a:avLst/>
            </a:prstGeom>
            <a:noFill/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444BD30-CCEB-4F21-9846-4F986DE2FDD3}"/>
                </a:ext>
              </a:extLst>
            </p:cNvPr>
            <p:cNvSpPr/>
            <p:nvPr/>
          </p:nvSpPr>
          <p:spPr>
            <a:xfrm>
              <a:off x="1611984" y="5181873"/>
              <a:ext cx="1253764" cy="603385"/>
            </a:xfrm>
            <a:prstGeom prst="ellipse">
              <a:avLst/>
            </a:prstGeom>
            <a:noFill/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BFFA7E-D188-42EC-B4EC-3D98ECA4B3F1}"/>
              </a:ext>
            </a:extLst>
          </p:cNvPr>
          <p:cNvGrpSpPr/>
          <p:nvPr/>
        </p:nvGrpSpPr>
        <p:grpSpPr>
          <a:xfrm>
            <a:off x="4465738" y="5012703"/>
            <a:ext cx="4197495" cy="1266487"/>
            <a:chOff x="4465738" y="5012703"/>
            <a:chExt cx="4197495" cy="126648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AE57217-39BF-489A-AF3B-05488ECE35A3}"/>
                </a:ext>
              </a:extLst>
            </p:cNvPr>
            <p:cNvGrpSpPr/>
            <p:nvPr/>
          </p:nvGrpSpPr>
          <p:grpSpPr>
            <a:xfrm>
              <a:off x="4465738" y="5012703"/>
              <a:ext cx="3212737" cy="416768"/>
              <a:chOff x="4465738" y="5012703"/>
              <a:chExt cx="3212737" cy="416768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082D84AD-D499-4AED-B5E1-465F58D3A6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07930" y="5012703"/>
                <a:ext cx="1970545" cy="416768"/>
              </a:xfrm>
              <a:prstGeom prst="rect">
                <a:avLst/>
              </a:prstGeom>
            </p:spPr>
          </p:pic>
          <p:sp>
            <p:nvSpPr>
              <p:cNvPr id="36" name="Arrow: Right 35">
                <a:extLst>
                  <a:ext uri="{FF2B5EF4-FFF2-40B4-BE49-F238E27FC236}">
                    <a16:creationId xmlns:a16="http://schemas.microsoft.com/office/drawing/2014/main" id="{19E9F536-CB2C-4D4F-AFA3-AB3FB45742E6}"/>
                  </a:ext>
                </a:extLst>
              </p:cNvPr>
              <p:cNvSpPr/>
              <p:nvPr/>
            </p:nvSpPr>
            <p:spPr>
              <a:xfrm>
                <a:off x="4465738" y="5104203"/>
                <a:ext cx="822699" cy="233768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53300F8-94E2-4D31-B9DD-624710221865}"/>
                </a:ext>
              </a:extLst>
            </p:cNvPr>
            <p:cNvSpPr txBox="1"/>
            <p:nvPr/>
          </p:nvSpPr>
          <p:spPr>
            <a:xfrm>
              <a:off x="6381945" y="5632859"/>
              <a:ext cx="22812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Completeness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Contamination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049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81920A-A406-4C34-9AF4-0CF0722D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3745"/>
            <a:ext cx="8686800" cy="1143000"/>
          </a:xfrm>
        </p:spPr>
        <p:txBody>
          <a:bodyPr>
            <a:normAutofit/>
          </a:bodyPr>
          <a:lstStyle/>
          <a:p>
            <a:r>
              <a:rPr lang="en-US" b="1" dirty="0"/>
              <a:t>Bin QC</a:t>
            </a:r>
            <a:endParaRPr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81A6C3-F47A-477C-A784-58FF74108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88802"/>
            <a:ext cx="1970545" cy="4167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9FAC316-0978-48E8-AF8F-EB1F5413AAA4}"/>
              </a:ext>
            </a:extLst>
          </p:cNvPr>
          <p:cNvSpPr txBox="1"/>
          <p:nvPr/>
        </p:nvSpPr>
        <p:spPr>
          <a:xfrm>
            <a:off x="126478" y="1984459"/>
            <a:ext cx="30032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Infer lineage &gt; list of SCG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Scan contigs against SCG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CE8D9A17-AD0A-4184-9361-7E5D27229C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9219664"/>
              </p:ext>
            </p:extLst>
          </p:nvPr>
        </p:nvGraphicFramePr>
        <p:xfrm>
          <a:off x="1967059" y="1551148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2259D9-33B2-46FF-8C12-F1EF87961421}"/>
                  </a:ext>
                </a:extLst>
              </p:cNvPr>
              <p:cNvSpPr txBox="1"/>
              <p:nvPr/>
            </p:nvSpPr>
            <p:spPr>
              <a:xfrm>
                <a:off x="5494256" y="5157178"/>
                <a:ext cx="3384224" cy="667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𝑆𝐶𝐺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𝑑𝑢𝑝𝑙𝑖𝑐𝑎𝑡𝑖𝑜𝑛𝑠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𝑑𝑒𝑡𝑒𝑐𝑡𝑒𝑑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𝑆𝐶𝐺𝑠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2259D9-33B2-46FF-8C12-F1EF87961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256" y="5157178"/>
                <a:ext cx="3384224" cy="6674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A79E35-9738-4EDE-B7F2-21A8B3F215B0}"/>
                  </a:ext>
                </a:extLst>
              </p:cNvPr>
              <p:cNvSpPr txBox="1"/>
              <p:nvPr/>
            </p:nvSpPr>
            <p:spPr>
              <a:xfrm>
                <a:off x="1411272" y="5167079"/>
                <a:ext cx="3384224" cy="667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𝑢𝑛𝑖𝑞𝑢𝑒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𝑆𝐶𝐺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𝑓𝑜𝑢𝑛𝑑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𝑆𝐶𝐺𝑠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A79E35-9738-4EDE-B7F2-21A8B3F21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272" y="5167079"/>
                <a:ext cx="3384224" cy="66749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5133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b="1" dirty="0"/>
              <a:t>Taxonomic Assignment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453918F-0F7A-43D3-B4C8-F67D4E5665B0}"/>
              </a:ext>
            </a:extLst>
          </p:cNvPr>
          <p:cNvGrpSpPr/>
          <p:nvPr/>
        </p:nvGrpSpPr>
        <p:grpSpPr>
          <a:xfrm>
            <a:off x="2115922" y="1704146"/>
            <a:ext cx="4912155" cy="4570354"/>
            <a:chOff x="882100" y="1704146"/>
            <a:chExt cx="4912155" cy="457035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C132B6A-CDE5-4915-805A-162F110600AC}"/>
                </a:ext>
              </a:extLst>
            </p:cNvPr>
            <p:cNvGrpSpPr/>
            <p:nvPr/>
          </p:nvGrpSpPr>
          <p:grpSpPr>
            <a:xfrm>
              <a:off x="882100" y="4776687"/>
              <a:ext cx="1430215" cy="829030"/>
              <a:chOff x="5159120" y="4857554"/>
              <a:chExt cx="1430215" cy="82903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8E9CD02-17D9-4479-B992-BC87C5BF99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20581" t="89929" r="38746" b="-1873"/>
              <a:stretch/>
            </p:blipFill>
            <p:spPr>
              <a:xfrm>
                <a:off x="5303906" y="5029118"/>
                <a:ext cx="1140643" cy="485903"/>
              </a:xfrm>
              <a:prstGeom prst="rect">
                <a:avLst/>
              </a:prstGeom>
            </p:spPr>
          </p:pic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06F2FE1-2EAC-4FE8-90DC-88817B412252}"/>
                  </a:ext>
                </a:extLst>
              </p:cNvPr>
              <p:cNvSpPr/>
              <p:nvPr/>
            </p:nvSpPr>
            <p:spPr>
              <a:xfrm>
                <a:off x="5159120" y="4857554"/>
                <a:ext cx="1430215" cy="829030"/>
              </a:xfrm>
              <a:prstGeom prst="ellipse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8AD2614-71CB-46BE-A2CB-B534755D19A9}"/>
                </a:ext>
              </a:extLst>
            </p:cNvPr>
            <p:cNvSpPr/>
            <p:nvPr/>
          </p:nvSpPr>
          <p:spPr>
            <a:xfrm>
              <a:off x="3688931" y="6028279"/>
              <a:ext cx="210532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/>
                <a:t>https://commons.wikimedia.org/wiki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8EC5150-70F4-482C-B6B4-50D2439C480C}"/>
                </a:ext>
              </a:extLst>
            </p:cNvPr>
            <p:cNvGrpSpPr/>
            <p:nvPr/>
          </p:nvGrpSpPr>
          <p:grpSpPr>
            <a:xfrm>
              <a:off x="882100" y="3361021"/>
              <a:ext cx="1430215" cy="829030"/>
              <a:chOff x="5115377" y="3875798"/>
              <a:chExt cx="1430215" cy="829030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E6C41B71-059D-4D3C-A4C1-D09AD638A3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56155" t="80524" b="3256"/>
              <a:stretch/>
            </p:blipFill>
            <p:spPr>
              <a:xfrm>
                <a:off x="5215681" y="3960375"/>
                <a:ext cx="1229606" cy="659876"/>
              </a:xfrm>
              <a:prstGeom prst="rect">
                <a:avLst/>
              </a:prstGeom>
            </p:spPr>
          </p:pic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8373BA8-4AE5-43B6-BB27-6D59D9EA8320}"/>
                  </a:ext>
                </a:extLst>
              </p:cNvPr>
              <p:cNvSpPr/>
              <p:nvPr/>
            </p:nvSpPr>
            <p:spPr>
              <a:xfrm>
                <a:off x="5115377" y="3875798"/>
                <a:ext cx="1430215" cy="829030"/>
              </a:xfrm>
              <a:prstGeom prst="ellipse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3976C35-C023-4487-971F-0A2BD804FB74}"/>
                </a:ext>
              </a:extLst>
            </p:cNvPr>
            <p:cNvGrpSpPr/>
            <p:nvPr/>
          </p:nvGrpSpPr>
          <p:grpSpPr>
            <a:xfrm>
              <a:off x="882100" y="1945355"/>
              <a:ext cx="1430215" cy="829030"/>
              <a:chOff x="5098085" y="3014485"/>
              <a:chExt cx="1430215" cy="829030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06CC6E0-266F-4176-8FB3-F4EEA769A0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78093" r="52567" b="10947"/>
              <a:stretch/>
            </p:blipFill>
            <p:spPr>
              <a:xfrm>
                <a:off x="5148081" y="3206072"/>
                <a:ext cx="1330223" cy="445856"/>
              </a:xfrm>
              <a:prstGeom prst="rect">
                <a:avLst/>
              </a:prstGeom>
            </p:spPr>
          </p:pic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D6878D0-5AB4-4617-8275-74D6B7C661A8}"/>
                  </a:ext>
                </a:extLst>
              </p:cNvPr>
              <p:cNvSpPr/>
              <p:nvPr/>
            </p:nvSpPr>
            <p:spPr>
              <a:xfrm>
                <a:off x="5098085" y="3014485"/>
                <a:ext cx="1430215" cy="829030"/>
              </a:xfrm>
              <a:prstGeom prst="ellipse">
                <a:avLst/>
              </a:prstGeom>
              <a:noFill/>
              <a:ln w="38100">
                <a:solidFill>
                  <a:srgbClr val="E46C0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5CAEE60-6A1C-4BB9-AB65-8FE523DE6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6370" y="3121188"/>
              <a:ext cx="1772191" cy="130869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9BD5062-4FC6-430C-90D9-39219F274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54625" y="4500058"/>
              <a:ext cx="1773936" cy="1382288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C555846-2253-4870-A73B-F10CE01E30B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4625" y="1704146"/>
              <a:ext cx="1773936" cy="1307592"/>
            </a:xfrm>
            <a:prstGeom prst="rect">
              <a:avLst/>
            </a:prstGeom>
          </p:spPr>
        </p:pic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FECC54C-CB22-4DF2-900E-5972A9A2C2A1}"/>
                </a:ext>
              </a:extLst>
            </p:cNvPr>
            <p:cNvCxnSpPr>
              <a:cxnSpLocks/>
            </p:cNvCxnSpPr>
            <p:nvPr/>
          </p:nvCxnSpPr>
          <p:spPr>
            <a:xfrm>
              <a:off x="2412619" y="2357942"/>
              <a:ext cx="13486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00D7EE3-9549-4383-82E6-EC7EB7D71460}"/>
                </a:ext>
              </a:extLst>
            </p:cNvPr>
            <p:cNvCxnSpPr>
              <a:cxnSpLocks/>
            </p:cNvCxnSpPr>
            <p:nvPr/>
          </p:nvCxnSpPr>
          <p:spPr>
            <a:xfrm>
              <a:off x="2412619" y="3739121"/>
              <a:ext cx="13486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3F9B2DB-ADC4-442F-8246-24AC0AB7D9E2}"/>
                </a:ext>
              </a:extLst>
            </p:cNvPr>
            <p:cNvCxnSpPr>
              <a:cxnSpLocks/>
            </p:cNvCxnSpPr>
            <p:nvPr/>
          </p:nvCxnSpPr>
          <p:spPr>
            <a:xfrm>
              <a:off x="2457101" y="5189274"/>
              <a:ext cx="13041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b="1" dirty="0"/>
              <a:t>Taxonomic Assignment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7EB6B9-1F41-40D1-81C0-660D17F65DB4}"/>
              </a:ext>
            </a:extLst>
          </p:cNvPr>
          <p:cNvGrpSpPr/>
          <p:nvPr/>
        </p:nvGrpSpPr>
        <p:grpSpPr>
          <a:xfrm>
            <a:off x="1080548" y="1501562"/>
            <a:ext cx="6496050" cy="3995539"/>
            <a:chOff x="1323975" y="1633537"/>
            <a:chExt cx="6496050" cy="399553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245D747-A7C0-4788-B01A-98C34DE8C088}"/>
                </a:ext>
              </a:extLst>
            </p:cNvPr>
            <p:cNvGrpSpPr/>
            <p:nvPr/>
          </p:nvGrpSpPr>
          <p:grpSpPr>
            <a:xfrm>
              <a:off x="1323975" y="1633537"/>
              <a:ext cx="6496050" cy="3590925"/>
              <a:chOff x="1323975" y="1633537"/>
              <a:chExt cx="6496050" cy="3590925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D8ACC5E-435B-4565-8892-7A7193A98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3975" y="1633537"/>
                <a:ext cx="6496050" cy="3590925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D07B2E6-EB9A-42FC-9883-4931DEA43F58}"/>
                  </a:ext>
                </a:extLst>
              </p:cNvPr>
              <p:cNvSpPr txBox="1"/>
              <p:nvPr/>
            </p:nvSpPr>
            <p:spPr>
              <a:xfrm>
                <a:off x="1368556" y="1816897"/>
                <a:ext cx="13244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/>
                  <a:t>K-</a:t>
                </a:r>
                <a:r>
                  <a:rPr lang="en-US" b="1" i="1" dirty="0" err="1"/>
                  <a:t>mer</a:t>
                </a:r>
                <a:endParaRPr lang="en-US" b="1" i="1" dirty="0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111310-D637-42AF-8685-7CE82C6EBBB8}"/>
                </a:ext>
              </a:extLst>
            </p:cNvPr>
            <p:cNvSpPr/>
            <p:nvPr/>
          </p:nvSpPr>
          <p:spPr>
            <a:xfrm>
              <a:off x="4515338" y="5259744"/>
              <a:ext cx="33046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https://carpentries-lab.github.io/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9A8953-4297-4047-9245-CA3CE3814EC7}"/>
              </a:ext>
            </a:extLst>
          </p:cNvPr>
          <p:cNvGrpSpPr/>
          <p:nvPr/>
        </p:nvGrpSpPr>
        <p:grpSpPr>
          <a:xfrm>
            <a:off x="985101" y="1816897"/>
            <a:ext cx="6068014" cy="2940148"/>
            <a:chOff x="985101" y="1816897"/>
            <a:chExt cx="6068014" cy="294014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C8C161-92A3-4092-A21E-2A5A79258010}"/>
                </a:ext>
              </a:extLst>
            </p:cNvPr>
            <p:cNvGrpSpPr/>
            <p:nvPr/>
          </p:nvGrpSpPr>
          <p:grpSpPr>
            <a:xfrm>
              <a:off x="985101" y="1816897"/>
              <a:ext cx="6068014" cy="2595896"/>
              <a:chOff x="985101" y="1816897"/>
              <a:chExt cx="6068014" cy="259589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E6D1459C-ECBD-4468-9EB8-3AD2CE3769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9249" y="2006671"/>
                <a:ext cx="4573866" cy="2406122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21C145-1563-4E1E-AD13-DF6B9D9466E6}"/>
                  </a:ext>
                </a:extLst>
              </p:cNvPr>
              <p:cNvSpPr txBox="1"/>
              <p:nvPr/>
            </p:nvSpPr>
            <p:spPr>
              <a:xfrm>
                <a:off x="985101" y="1816897"/>
                <a:ext cx="13244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/>
                  <a:t>BLAST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AAA922-08F1-4B96-9902-A6A16CA82792}"/>
                </a:ext>
              </a:extLst>
            </p:cNvPr>
            <p:cNvSpPr/>
            <p:nvPr/>
          </p:nvSpPr>
          <p:spPr>
            <a:xfrm>
              <a:off x="2797352" y="4387713"/>
              <a:ext cx="30624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https://blast.ncbi.nlm.nih.gov/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459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b="1" dirty="0"/>
              <a:t>Taxonomic Assignment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9BDC3D-8D94-4A7B-9527-8AB27DA15352}"/>
              </a:ext>
            </a:extLst>
          </p:cNvPr>
          <p:cNvGrpSpPr/>
          <p:nvPr/>
        </p:nvGrpSpPr>
        <p:grpSpPr>
          <a:xfrm>
            <a:off x="457200" y="1336245"/>
            <a:ext cx="5257163" cy="4652966"/>
            <a:chOff x="1348031" y="1758690"/>
            <a:chExt cx="5257163" cy="465296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E880904-523E-43C0-88EC-1724B646637A}"/>
                </a:ext>
              </a:extLst>
            </p:cNvPr>
            <p:cNvGrpSpPr/>
            <p:nvPr/>
          </p:nvGrpSpPr>
          <p:grpSpPr>
            <a:xfrm>
              <a:off x="2538805" y="1758690"/>
              <a:ext cx="4066389" cy="4652966"/>
              <a:chOff x="2538805" y="1758690"/>
              <a:chExt cx="4066389" cy="4652966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9051439-94C6-4303-A57E-AACF5E915C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38805" y="1758690"/>
                <a:ext cx="4066389" cy="4034915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50FD1AB-2D1A-4B76-9173-7FD8CACECCCC}"/>
                  </a:ext>
                </a:extLst>
              </p:cNvPr>
              <p:cNvSpPr/>
              <p:nvPr/>
            </p:nvSpPr>
            <p:spPr>
              <a:xfrm>
                <a:off x="3490273" y="6134657"/>
                <a:ext cx="2163452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Wood DE and </a:t>
                </a:r>
                <a:r>
                  <a:rPr lang="en-US" sz="1200" dirty="0" err="1"/>
                  <a:t>Slazberg</a:t>
                </a:r>
                <a:r>
                  <a:rPr lang="en-US" sz="1200" dirty="0"/>
                  <a:t> SL, 2014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D789ED-9502-49EF-9ACB-DF4266096D1F}"/>
                </a:ext>
              </a:extLst>
            </p:cNvPr>
            <p:cNvSpPr txBox="1"/>
            <p:nvPr/>
          </p:nvSpPr>
          <p:spPr>
            <a:xfrm>
              <a:off x="1348031" y="2056230"/>
              <a:ext cx="10935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/>
                <a:t>Kraken2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C538867-256D-4626-9B77-9066B5BB7655}"/>
              </a:ext>
            </a:extLst>
          </p:cNvPr>
          <p:cNvGrpSpPr/>
          <p:nvPr/>
        </p:nvGrpSpPr>
        <p:grpSpPr>
          <a:xfrm>
            <a:off x="791852" y="2433881"/>
            <a:ext cx="7805394" cy="2790334"/>
            <a:chOff x="791852" y="2433881"/>
            <a:chExt cx="7805394" cy="279033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07A79D-9FF5-4046-BCB2-6DDA956A0AE5}"/>
                </a:ext>
              </a:extLst>
            </p:cNvPr>
            <p:cNvSpPr/>
            <p:nvPr/>
          </p:nvSpPr>
          <p:spPr>
            <a:xfrm>
              <a:off x="791852" y="2433881"/>
              <a:ext cx="7805394" cy="279033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3FE7D22-F974-4FB3-BE19-B60B0461B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1220" y="2696576"/>
              <a:ext cx="7105650" cy="2305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005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Downstream Analyses</a:t>
            </a:r>
            <a:endParaRPr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5DC963-419A-43EC-92E7-660598FBF2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473"/>
          <a:stretch/>
        </p:blipFill>
        <p:spPr>
          <a:xfrm>
            <a:off x="564414" y="1272619"/>
            <a:ext cx="8122386" cy="3568613"/>
          </a:xfrm>
          <a:prstGeom prst="rect">
            <a:avLst/>
          </a:prstGeom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2FFE46-30C8-42CE-8B40-791646306482}"/>
              </a:ext>
            </a:extLst>
          </p:cNvPr>
          <p:cNvSpPr/>
          <p:nvPr/>
        </p:nvSpPr>
        <p:spPr>
          <a:xfrm>
            <a:off x="358219" y="4779387"/>
            <a:ext cx="83285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b="1" dirty="0"/>
              <a:t>α</a:t>
            </a:r>
            <a:r>
              <a:rPr lang="en-US" dirty="0"/>
              <a:t> - Species diversity (richness and/or evenness) within a particular area, community, or ecosystem.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016EC7-F5E2-4A42-91DE-6B30D2D344FF}"/>
              </a:ext>
            </a:extLst>
          </p:cNvPr>
          <p:cNvSpPr/>
          <p:nvPr/>
        </p:nvSpPr>
        <p:spPr>
          <a:xfrm>
            <a:off x="358219" y="5578387"/>
            <a:ext cx="83285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b="1" dirty="0"/>
              <a:t>β</a:t>
            </a:r>
            <a:r>
              <a:rPr lang="en-US" dirty="0"/>
              <a:t> - The change in species composition between two or more habitats or communities; it reflects </a:t>
            </a:r>
            <a:r>
              <a:rPr lang="en-US" b="1" dirty="0"/>
              <a:t>species turnover</a:t>
            </a:r>
            <a:r>
              <a:rPr lang="en-US" dirty="0"/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CA41F0-0C8A-469F-8310-A3AA4CDB0B71}"/>
              </a:ext>
            </a:extLst>
          </p:cNvPr>
          <p:cNvSpPr/>
          <p:nvPr/>
        </p:nvSpPr>
        <p:spPr>
          <a:xfrm>
            <a:off x="358219" y="6377387"/>
            <a:ext cx="72460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b="1" dirty="0"/>
              <a:t>γ</a:t>
            </a:r>
            <a:r>
              <a:rPr lang="en-US" b="1" dirty="0"/>
              <a:t> </a:t>
            </a:r>
            <a:r>
              <a:rPr lang="en-US" dirty="0"/>
              <a:t>- Total species diversity across all ecosystems or samples in a landscape.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8375A4-0780-4982-8A5D-86BBC9AE3BE4}"/>
              </a:ext>
            </a:extLst>
          </p:cNvPr>
          <p:cNvSpPr/>
          <p:nvPr/>
        </p:nvSpPr>
        <p:spPr>
          <a:xfrm>
            <a:off x="6787147" y="4292689"/>
            <a:ext cx="22554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https://training.galaxyproject.org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7F1588-BBEA-4AB9-B75E-23CB2F24C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/>
              <a:t>Web/Local platforms</a:t>
            </a:r>
            <a:endParaRPr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639C80-069A-4456-90DB-5D09364F9DCB}"/>
              </a:ext>
            </a:extLst>
          </p:cNvPr>
          <p:cNvSpPr txBox="1"/>
          <p:nvPr/>
        </p:nvSpPr>
        <p:spPr>
          <a:xfrm>
            <a:off x="724103" y="1573788"/>
            <a:ext cx="7695794" cy="1830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600" dirty="0"/>
              <a:t>Lack </a:t>
            </a:r>
            <a:r>
              <a:rPr lang="de-DE" sz="2600" dirty="0" err="1"/>
              <a:t>of</a:t>
            </a:r>
            <a:r>
              <a:rPr lang="de-DE" sz="2600" dirty="0"/>
              <a:t> </a:t>
            </a:r>
            <a:r>
              <a:rPr lang="de-DE" sz="2600" dirty="0" err="1"/>
              <a:t>computational</a:t>
            </a:r>
            <a:r>
              <a:rPr lang="de-DE" sz="2600" dirty="0"/>
              <a:t> </a:t>
            </a:r>
            <a:r>
              <a:rPr lang="de-DE" sz="2600" dirty="0" err="1"/>
              <a:t>resources</a:t>
            </a:r>
            <a:endParaRPr lang="de-DE" sz="2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600" dirty="0"/>
              <a:t>Limited </a:t>
            </a:r>
            <a:r>
              <a:rPr lang="de-DE" sz="2600" dirty="0" err="1"/>
              <a:t>computational</a:t>
            </a:r>
            <a:r>
              <a:rPr lang="de-DE" sz="2600" dirty="0"/>
              <a:t> </a:t>
            </a:r>
            <a:r>
              <a:rPr lang="de-DE" sz="2600" dirty="0" err="1"/>
              <a:t>skills</a:t>
            </a:r>
            <a:endParaRPr lang="de-DE" sz="2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600" dirty="0" err="1"/>
              <a:t>No</a:t>
            </a:r>
            <a:r>
              <a:rPr lang="de-DE" sz="2600" dirty="0"/>
              <a:t> </a:t>
            </a:r>
            <a:r>
              <a:rPr lang="de-DE" sz="2600" dirty="0" err="1"/>
              <a:t>need</a:t>
            </a:r>
            <a:r>
              <a:rPr lang="de-DE" sz="2600" dirty="0"/>
              <a:t> </a:t>
            </a:r>
            <a:r>
              <a:rPr lang="de-DE" sz="2600" dirty="0" err="1"/>
              <a:t>to</a:t>
            </a:r>
            <a:r>
              <a:rPr lang="de-DE" sz="2600" dirty="0"/>
              <a:t> </a:t>
            </a:r>
            <a:r>
              <a:rPr lang="de-DE" sz="2600" dirty="0" err="1"/>
              <a:t>install</a:t>
            </a:r>
            <a:r>
              <a:rPr lang="de-DE" sz="2600" dirty="0"/>
              <a:t> </a:t>
            </a:r>
            <a:r>
              <a:rPr lang="de-DE" sz="2600" dirty="0" err="1"/>
              <a:t>tools</a:t>
            </a:r>
            <a:r>
              <a:rPr lang="de-DE" sz="2600" dirty="0"/>
              <a:t> and </a:t>
            </a:r>
            <a:r>
              <a:rPr lang="de-DE" sz="2600" dirty="0" err="1"/>
              <a:t>supporting</a:t>
            </a:r>
            <a:r>
              <a:rPr lang="de-DE" sz="2600" dirty="0"/>
              <a:t> </a:t>
            </a:r>
            <a:r>
              <a:rPr lang="de-DE" sz="2600" dirty="0" err="1"/>
              <a:t>databases</a:t>
            </a:r>
            <a:endParaRPr lang="de-DE" sz="2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DF58B5-28C3-42FA-8D4F-32AB64ECD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5" y="3782078"/>
            <a:ext cx="3908971" cy="2108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CEBED3-B308-4305-BCD3-2E33A6711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370" y="3687307"/>
            <a:ext cx="4167739" cy="22981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77203A-8970-4556-BA53-8005A112889D}"/>
              </a:ext>
            </a:extLst>
          </p:cNvPr>
          <p:cNvSpPr/>
          <p:nvPr/>
        </p:nvSpPr>
        <p:spPr>
          <a:xfrm>
            <a:off x="5555059" y="6083527"/>
            <a:ext cx="1874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https://anvio.org/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E5DA82-8771-4D06-942A-B098C7800DCA}"/>
              </a:ext>
            </a:extLst>
          </p:cNvPr>
          <p:cNvSpPr/>
          <p:nvPr/>
        </p:nvSpPr>
        <p:spPr>
          <a:xfrm>
            <a:off x="1016332" y="6083527"/>
            <a:ext cx="2184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https://usegalaxy.eu/</a:t>
            </a:r>
          </a:p>
        </p:txBody>
      </p:sp>
    </p:spTree>
    <p:extLst>
      <p:ext uri="{BB962C8B-B14F-4D97-AF65-F5344CB8AC3E}">
        <p14:creationId xmlns:p14="http://schemas.microsoft.com/office/powerpoint/2010/main" val="461912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212" y="2763314"/>
            <a:ext cx="8229600" cy="1143000"/>
          </a:xfrm>
        </p:spPr>
        <p:txBody>
          <a:bodyPr/>
          <a:lstStyle/>
          <a:p>
            <a:r>
              <a:rPr b="1" u="sng" dirty="0"/>
              <a:t>Q&amp;A</a:t>
            </a:r>
            <a:r>
              <a:rPr lang="en-US" b="1" u="sng" dirty="0"/>
              <a:t>?</a:t>
            </a:r>
            <a:endParaRPr b="1" u="sn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1621</Words>
  <Application>Microsoft Office PowerPoint</Application>
  <PresentationFormat>On-screen Show (4:3)</PresentationFormat>
  <Paragraphs>256</Paragraphs>
  <Slides>26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Cambria Math</vt:lpstr>
      <vt:lpstr>DeepSeek-CJK-patch</vt:lpstr>
      <vt:lpstr>DejaVu Sans</vt:lpstr>
      <vt:lpstr>Noto Sans CJK SC</vt:lpstr>
      <vt:lpstr>Times New Roman</vt:lpstr>
      <vt:lpstr>Wingdings</vt:lpstr>
      <vt:lpstr>Office Theme</vt:lpstr>
      <vt:lpstr>PowerPoint Presentation</vt:lpstr>
      <vt:lpstr>PowerPoint Presentation</vt:lpstr>
      <vt:lpstr>What is Metagenomics?</vt:lpstr>
      <vt:lpstr>PowerPoint Presentation</vt:lpstr>
      <vt:lpstr>Metagenomics</vt:lpstr>
      <vt:lpstr>PowerPoint Presentation</vt:lpstr>
      <vt:lpstr>Workflow</vt:lpstr>
      <vt:lpstr>Wet Lab</vt:lpstr>
      <vt:lpstr>PowerPoint Presentation</vt:lpstr>
      <vt:lpstr>PowerPoint Presentation</vt:lpstr>
      <vt:lpstr>PowerPoint Presentation</vt:lpstr>
      <vt:lpstr>Quality control</vt:lpstr>
      <vt:lpstr>Trimming and Filtering</vt:lpstr>
      <vt:lpstr>Assembly</vt:lpstr>
      <vt:lpstr>Assembly</vt:lpstr>
      <vt:lpstr>N50 value</vt:lpstr>
      <vt:lpstr>Depth of coverage</vt:lpstr>
      <vt:lpstr>Mapping raw reads to contigs</vt:lpstr>
      <vt:lpstr>Binning</vt:lpstr>
      <vt:lpstr>Bin QC</vt:lpstr>
      <vt:lpstr>Taxonomic Assignment</vt:lpstr>
      <vt:lpstr>Taxonomic Assignment</vt:lpstr>
      <vt:lpstr>Taxonomic Assignment</vt:lpstr>
      <vt:lpstr>Downstream Analyses</vt:lpstr>
      <vt:lpstr>Web/Local platforms</vt:lpstr>
      <vt:lpstr>Q&amp;A?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Shotgun Metagenomics: From Data to Discovery</dc:title>
  <dc:subject/>
  <dc:creator/>
  <cp:keywords/>
  <dc:description>generated using python-pptx</dc:description>
  <cp:lastModifiedBy>João Pedro Leonor Fernandes Saraiva</cp:lastModifiedBy>
  <cp:revision>34</cp:revision>
  <dcterms:created xsi:type="dcterms:W3CDTF">2013-01-27T09:14:16Z</dcterms:created>
  <dcterms:modified xsi:type="dcterms:W3CDTF">2025-08-05T10:51:34Z</dcterms:modified>
  <cp:category/>
</cp:coreProperties>
</file>